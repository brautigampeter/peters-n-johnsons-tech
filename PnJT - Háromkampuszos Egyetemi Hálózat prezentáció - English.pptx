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78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4928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4" name="Google Shape;194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project/topology.png"/>
          <p:cNvPicPr>
            <a:picLocks noChangeAspect="1"/>
          </p:cNvPicPr>
          <p:nvPr/>
        </p:nvPicPr>
        <p:blipFill>
          <a:blip r:embed="rId3">
            <a:alphaModFix amt="22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434840"/>
            <a:ext cx="9144000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1"/>
          <p:cNvSpPr/>
          <p:nvPr/>
        </p:nvSpPr>
        <p:spPr>
          <a:xfrm>
            <a:off x="548640" y="8229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Three-Campus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Network</a:t>
            </a:r>
            <a:endParaRPr lang="en-US" sz="5200" dirty="0"/>
          </a:p>
        </p:txBody>
      </p:sp>
      <p:sp>
        <p:nvSpPr>
          <p:cNvPr id="6" name="Shape 3"/>
          <p:cNvSpPr/>
          <p:nvPr/>
        </p:nvSpPr>
        <p:spPr>
          <a:xfrm>
            <a:off x="3200400" y="2743200"/>
            <a:ext cx="274320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4"/>
          <p:cNvSpPr/>
          <p:nvPr/>
        </p:nvSpPr>
        <p:spPr>
          <a:xfrm>
            <a:off x="548640" y="28803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 ·  Configuration  ·  Documentation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446227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Peter's &amp; Johnson's Tech  |  Bräutigam Péter  ·  Cséplő János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47548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Packet Tracer 9.0.0  +  VirtualBox  |  Dombóvár,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39319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64008" cy="3291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594360" y="11430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Bräutigam Péter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536192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Manager &amp; Network Designer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36576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architecture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addressing and routing scheme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MAIN-WINSRV01 configuration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project management, sprint planning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00600" y="1005840"/>
            <a:ext cx="39319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0" name="Shape 8"/>
          <p:cNvSpPr/>
          <p:nvPr/>
        </p:nvSpPr>
        <p:spPr>
          <a:xfrm>
            <a:off x="4800600" y="1005840"/>
            <a:ext cx="64008" cy="3291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4983480" y="11430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Cséplő János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983480" y="1536192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Configuration, Testing &amp; Linux ops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920240"/>
            <a:ext cx="36576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testing, 100+ cases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ENG-LINSRV01 (Debian 13) management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catalog and Jira documentation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version control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1480" y="4434840"/>
            <a:ext cx="8321040" cy="502920"/>
          </a:xfrm>
          <a:prstGeom prst="rect">
            <a:avLst/>
          </a:prstGeom>
          <a:solidFill>
            <a:srgbClr val="EBF8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/>
          <p:nvPr/>
        </p:nvSpPr>
        <p:spPr>
          <a:xfrm>
            <a:off x="502920" y="44805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Management: Agile / Scrum  ·  Tools: Jira  ·  Git  ·  Discord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52120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64008" cy="1207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594360" y="1005840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29844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configure and test a three-campus university network — reliable, scalable infrastructure with VLAN segmentation, dual-stack IPv4/IPv6 addressing and built-in redundancy.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2304288"/>
            <a:ext cx="5212080" cy="76809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66928" y="2368296"/>
            <a:ext cx="4892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Campus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2706624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campus – IT and administration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3191256"/>
            <a:ext cx="5212080" cy="76809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566928" y="3255264"/>
            <a:ext cx="4892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Campus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593592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labs and research infrastructure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4078224"/>
            <a:ext cx="5212080" cy="76809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/>
          <p:nvPr/>
        </p:nvSpPr>
        <p:spPr>
          <a:xfrm>
            <a:off x="566928" y="4142232"/>
            <a:ext cx="4892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Campus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6928" y="4480560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D0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 faculty and business administration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806440" y="960120"/>
            <a:ext cx="2926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5806440" y="960120"/>
            <a:ext cx="54864" cy="868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5961888" y="1051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Full-mesh topology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961888" y="13441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campus directly connected – no single point of failure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806440" y="1947672"/>
            <a:ext cx="2926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20"/>
          <p:cNvSpPr/>
          <p:nvPr/>
        </p:nvSpPr>
        <p:spPr>
          <a:xfrm>
            <a:off x="5806440" y="1947672"/>
            <a:ext cx="54864" cy="868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/>
          <p:nvPr/>
        </p:nvSpPr>
        <p:spPr>
          <a:xfrm>
            <a:off x="5961888" y="20391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segmentation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961888" y="23317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VLANs per campus – traffic and security logically separated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806440" y="2935224"/>
            <a:ext cx="2926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6" name="Shape 24"/>
          <p:cNvSpPr/>
          <p:nvPr/>
        </p:nvSpPr>
        <p:spPr>
          <a:xfrm>
            <a:off x="5806440" y="2935224"/>
            <a:ext cx="54864" cy="868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7" name="Text 25"/>
          <p:cNvSpPr/>
          <p:nvPr/>
        </p:nvSpPr>
        <p:spPr>
          <a:xfrm>
            <a:off x="5961888" y="30266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IPv4/IPv6 dual-stack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961888" y="331927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addressing on every segment – future-proof infrastructure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806440" y="3922776"/>
            <a:ext cx="2926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0" name="Shape 28"/>
          <p:cNvSpPr/>
          <p:nvPr/>
        </p:nvSpPr>
        <p:spPr>
          <a:xfrm>
            <a:off x="5806440" y="3922776"/>
            <a:ext cx="54864" cy="868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5961888" y="40142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redundancy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961888" y="4306824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EtherChannel (L2) + OSPF auto-rerouting (L3) – automatic failover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Topology – Full-Mesh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2"/>
          <p:cNvSpPr/>
          <p:nvPr/>
        </p:nvSpPr>
        <p:spPr>
          <a:xfrm>
            <a:off x="5394960" y="960120"/>
            <a:ext cx="3337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6" name="Shape 3"/>
          <p:cNvSpPr/>
          <p:nvPr/>
        </p:nvSpPr>
        <p:spPr>
          <a:xfrm>
            <a:off x="5394960" y="960120"/>
            <a:ext cx="64008" cy="1097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4"/>
          <p:cNvSpPr/>
          <p:nvPr/>
        </p:nvSpPr>
        <p:spPr>
          <a:xfrm>
            <a:off x="5559552" y="10515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Full-Mesh Architecture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559552" y="1380744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Minden kampusz közvetlen összeköttetésben egymással (3 P2P link)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egy kiesik → forgalom automatikusan a másik úton megy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394960" y="2194560"/>
            <a:ext cx="3337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0" name="Shape 7"/>
          <p:cNvSpPr/>
          <p:nvPr/>
        </p:nvSpPr>
        <p:spPr>
          <a:xfrm>
            <a:off x="5394960" y="2194560"/>
            <a:ext cx="64008" cy="1097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8"/>
          <p:cNvSpPr/>
          <p:nvPr/>
        </p:nvSpPr>
        <p:spPr>
          <a:xfrm>
            <a:off x="5559552" y="2286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Campus Design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559552" y="2615184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switch → Distribution → Access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Minden réteg más feladatot lát el: routing, összekötés, végpontok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394960" y="3429000"/>
            <a:ext cx="3337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4" name="Shape 11"/>
          <p:cNvSpPr/>
          <p:nvPr/>
        </p:nvSpPr>
        <p:spPr>
          <a:xfrm>
            <a:off x="5394960" y="3429000"/>
            <a:ext cx="64008" cy="1097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2"/>
          <p:cNvSpPr/>
          <p:nvPr/>
        </p:nvSpPr>
        <p:spPr>
          <a:xfrm>
            <a:off x="5559552" y="35204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per Campus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559552" y="3849624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 ISR Router · 1× ASA Tűzfal · 1× L3 Core Switch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Distribution Switch · Access switch-ek · Access Point-ok</a:t>
            </a:r>
            <a:endParaRPr lang="en-US" sz="1150" dirty="0"/>
          </a:p>
        </p:txBody>
      </p:sp>
      <p:pic>
        <p:nvPicPr>
          <p:cNvPr id="18" name="Image 0" descr="/mnt/project/topology.png">
            <a:extLst>
              <a:ext uri="{FF2B5EF4-FFF2-40B4-BE49-F238E27FC236}">
                <a16:creationId xmlns:a16="http://schemas.microsoft.com/office/drawing/2014/main" id="{8371138E-1078-E9C2-3A5D-51A4D8A69E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960120"/>
            <a:ext cx="475488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and Server Environment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50749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07492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Packet Tracer 9.0.0</a:t>
            </a:r>
            <a:endParaRPr lang="en-US" sz="1600" dirty="0"/>
          </a:p>
        </p:txBody>
      </p:sp>
      <p:pic>
        <p:nvPicPr>
          <p:cNvPr id="7" name="Image 0" descr="/mnt/project/topolog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" y="1508760"/>
            <a:ext cx="4846320" cy="2514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11480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functional simulation — routing, VLAN, DHCP, wireless,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configuration all actually runs and is testable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0" y="960120"/>
            <a:ext cx="3063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0" name="Shape 7"/>
          <p:cNvSpPr/>
          <p:nvPr/>
        </p:nvSpPr>
        <p:spPr>
          <a:xfrm>
            <a:off x="5669280" y="960120"/>
            <a:ext cx="3063240" cy="4572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8"/>
          <p:cNvSpPr/>
          <p:nvPr/>
        </p:nvSpPr>
        <p:spPr>
          <a:xfrm>
            <a:off x="5779008" y="10058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VirtualBox Servers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669280" y="1536192"/>
            <a:ext cx="306324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Text 10"/>
          <p:cNvSpPr/>
          <p:nvPr/>
        </p:nvSpPr>
        <p:spPr>
          <a:xfrm>
            <a:off x="5779008" y="162763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MAIN-WINSRV01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5779008" y="1947672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Server 2019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IP: 150.111.72.10/26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Domain: campus.local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779008" y="260604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Directory + DNS + DHCP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&amp; Print Services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GPO Software Deployment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0" y="3456432"/>
            <a:ext cx="306324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Text 14"/>
          <p:cNvSpPr/>
          <p:nvPr/>
        </p:nvSpPr>
        <p:spPr>
          <a:xfrm>
            <a:off x="5779008" y="35478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ENG-LINSRV01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5779008" y="386791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Debian 13 Linux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IP: 150.111.72.20/26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779008" y="4279392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Apache2 HTTP/HTTPS Web Server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backup – rsync + cron (02:00)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Campus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2"/>
          <p:cNvSpPr/>
          <p:nvPr/>
        </p:nvSpPr>
        <p:spPr>
          <a:xfrm>
            <a:off x="5394960" y="960120"/>
            <a:ext cx="33375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6" name="Shape 3"/>
          <p:cNvSpPr/>
          <p:nvPr/>
        </p:nvSpPr>
        <p:spPr>
          <a:xfrm>
            <a:off x="5394960" y="960120"/>
            <a:ext cx="333756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4"/>
          <p:cNvSpPr/>
          <p:nvPr/>
        </p:nvSpPr>
        <p:spPr>
          <a:xfrm>
            <a:off x="5532120" y="10058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Characteristics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532120" y="138988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and Role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532120" y="166420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Központi adminisztráció és IT infrastruktúra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tartomány: 150.111.64.0/19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532120" y="221284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532120" y="2487168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MAIN-WINSRV01 (Win Server 2019)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AD, DNS, DHCP, File, Print, GPO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Webszerver (HTTP/HTTPS)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532120" y="316382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532120" y="343814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 Tűzfal + NAT/PAT – belső IP-k elrejtése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ACL, port security, DHCP snooping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532120" y="39319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and Redundancy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532120" y="4206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OSPF/OSPFv3 · Full-mesh · EtherChannel L2</a:t>
            </a:r>
            <a:endParaRPr lang="en-US" sz="1150" dirty="0"/>
          </a:p>
        </p:txBody>
      </p:sp>
      <p:pic>
        <p:nvPicPr>
          <p:cNvPr id="16" name="Image 0">
            <a:extLst>
              <a:ext uri="{FF2B5EF4-FFF2-40B4-BE49-F238E27FC236}">
                <a16:creationId xmlns:a16="http://schemas.microsoft.com/office/drawing/2014/main" id="{2BD40808-5F00-4414-BB2B-EE2DEAEC92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960120"/>
            <a:ext cx="475488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Campus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2"/>
          <p:cNvSpPr/>
          <p:nvPr/>
        </p:nvSpPr>
        <p:spPr>
          <a:xfrm>
            <a:off x="5394960" y="960120"/>
            <a:ext cx="33375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6" name="Shape 3"/>
          <p:cNvSpPr/>
          <p:nvPr/>
        </p:nvSpPr>
        <p:spPr>
          <a:xfrm>
            <a:off x="5394960" y="960120"/>
            <a:ext cx="333756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4"/>
          <p:cNvSpPr/>
          <p:nvPr/>
        </p:nvSpPr>
        <p:spPr>
          <a:xfrm>
            <a:off x="5532120" y="10058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Characteristics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532120" y="138988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and Role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532120" y="166420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Mérnöki laborok, kutatási infrastruktúra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tartomány: 150.111.80.0/20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532120" y="221284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532120" y="2487168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ENG-LINSRV01 (Debian 13)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Apache2 webszerver + rsync backup (02:00)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– helyi névfeloldás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532120" y="316382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532120" y="343814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 Tűzfal · WPA2-PSK wireless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ACL · IPSec VPN → Business Campus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532120" y="39319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and Redundancy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532120" y="4206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OSPF/OSPFv3 · Full-mesh · Auto-rerouting</a:t>
            </a:r>
            <a:endParaRPr lang="en-US" sz="1150" dirty="0"/>
          </a:p>
        </p:txBody>
      </p:sp>
      <p:pic>
        <p:nvPicPr>
          <p:cNvPr id="16" name="Image 0">
            <a:extLst>
              <a:ext uri="{FF2B5EF4-FFF2-40B4-BE49-F238E27FC236}">
                <a16:creationId xmlns:a16="http://schemas.microsoft.com/office/drawing/2014/main" id="{84D2FA0A-EC1A-F0DF-3D19-73E946DCF2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960120"/>
            <a:ext cx="475488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Campus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4" name="Image 0" descr="/home/claude/campus_imgs/slide7_img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960120"/>
            <a:ext cx="4754880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94960" y="960120"/>
            <a:ext cx="33375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6" name="Shape 3"/>
          <p:cNvSpPr/>
          <p:nvPr/>
        </p:nvSpPr>
        <p:spPr>
          <a:xfrm>
            <a:off x="5394960" y="960120"/>
            <a:ext cx="333756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4"/>
          <p:cNvSpPr/>
          <p:nvPr/>
        </p:nvSpPr>
        <p:spPr>
          <a:xfrm>
            <a:off x="5532120" y="10058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Characteristics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532120" y="138988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and Role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532120" y="166420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 faculty és üzleti adminisztráció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tartomány: 150.111.96.0/20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532120" y="221284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532120" y="248716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Webszerver (HTTP/HTTPS) – belső kampusz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– helyi névfeloldás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532120" y="303580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532120" y="331012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 Tűzfal · VLAN ACL · Port security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VPN → Engineering Campus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532120" y="380390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and Redundancy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532120" y="4078224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OSPF/OSPFv3 · Full-mesh · STP (loop prevention)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Segmentation – Logical Separation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64008" cy="7132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594360" y="987552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physical network – multiple logically separated segments. Students cannot see admin traffic, printers cannot reach servers, and guest WiFi is completely isolated.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828800"/>
          <a:ext cx="5349240" cy="2834640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Név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Megjegyzés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/22 (~1000 host)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segment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Faculty/Staff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/23 (~500 host)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Separated administration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Classrooms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/24 (~250 host)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Classroom AV and equipment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/24 (~250 host)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traffic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Guest WiFi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/26 (~60 host)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Internet-only, internal blocked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/28 (~14 host)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 segment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943600" y="1828800"/>
            <a:ext cx="2788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9" name="Text 6"/>
          <p:cNvSpPr/>
          <p:nvPr/>
        </p:nvSpPr>
        <p:spPr>
          <a:xfrm>
            <a:off x="6080760" y="19019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Inter-VLAN Routing</a:t>
            </a:r>
            <a:endParaRPr lang="en-US" sz="1300" dirty="0"/>
          </a:p>
        </p:txBody>
      </p:sp>
      <p:sp>
        <p:nvSpPr>
          <p:cNvPr id="7" name="Text 7"/>
          <p:cNvSpPr/>
          <p:nvPr/>
        </p:nvSpPr>
        <p:spPr>
          <a:xfrm>
            <a:off x="6080760" y="2212848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VLAN-ok között forgalom csak routeren/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switch-en keresztül mehet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Core switch SVIs kezelik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43600" y="3383280"/>
            <a:ext cx="2788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Text 9"/>
          <p:cNvSpPr/>
          <p:nvPr/>
        </p:nvSpPr>
        <p:spPr>
          <a:xfrm>
            <a:off x="6080760" y="345643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IPv6 Addressing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080760" y="3767328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Prefix: 2001:ABCD:E0::/48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/64 – minden VLAN-hoz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/126 – router-router P2P linkek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Addressing Scheme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1920240" cy="6583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502920" y="102412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Campus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129844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0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150.111.64.0/19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514600" y="987552"/>
            <a:ext cx="1920240" cy="65836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2606040" y="102412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Campus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06040" y="129844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0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150.111.80.0/20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17720" y="987552"/>
            <a:ext cx="1920240" cy="6583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4709160" y="102412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Campus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09160" y="129844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0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150.111.96.0/20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720840" y="987552"/>
            <a:ext cx="1920240" cy="6583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6812280" y="102412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subnet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12280" y="129844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0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150.111.72.0/26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1480" y="1847088"/>
            <a:ext cx="83210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7" name="Shape 15"/>
          <p:cNvSpPr/>
          <p:nvPr/>
        </p:nvSpPr>
        <p:spPr>
          <a:xfrm>
            <a:off x="411480" y="1847088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594360" y="191109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P2P Router Links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651760" y="193852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campuses /30 IPv4 (serial) and /126 IPv6 — only 2 hosts/segment, minimal waste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1480" y="2615184"/>
            <a:ext cx="83210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1" name="Shape 19"/>
          <p:cNvSpPr/>
          <p:nvPr/>
        </p:nvSpPr>
        <p:spPr>
          <a:xfrm>
            <a:off x="411480" y="2615184"/>
            <a:ext cx="64008" cy="685800"/>
          </a:xfrm>
          <a:prstGeom prst="rect">
            <a:avLst/>
          </a:prstGeom>
          <a:solidFill>
            <a:srgbClr val="00A89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594360" y="26791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DHCP Scopes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651760" y="270662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VLAN gets its own DHCP scope from MAIN-WINSRV01. ip helper-address forwards requests via the router.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1480" y="3383280"/>
            <a:ext cx="83210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5" name="Shape 23"/>
          <p:cNvSpPr/>
          <p:nvPr/>
        </p:nvSpPr>
        <p:spPr>
          <a:xfrm>
            <a:off x="411480" y="338328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594360" y="34472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IPs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651760" y="34747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MAIN-WINSRV01: 150.111.72.10  |  ENG-LINSRV01: 150.111.72.20  —  static IP, DHCP reservation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11480" y="4151376"/>
            <a:ext cx="83210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9" name="Shape 27"/>
          <p:cNvSpPr/>
          <p:nvPr/>
        </p:nvSpPr>
        <p:spPr>
          <a:xfrm>
            <a:off x="411480" y="4151376"/>
            <a:ext cx="64008" cy="685800"/>
          </a:xfrm>
          <a:prstGeom prst="rect">
            <a:avLst/>
          </a:prstGeom>
          <a:solidFill>
            <a:srgbClr val="00A89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0" name="Text 28"/>
          <p:cNvSpPr/>
          <p:nvPr/>
        </p:nvSpPr>
        <p:spPr>
          <a:xfrm>
            <a:off x="594360" y="42153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IPv6 Prefix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2651760" y="424281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2001:ABCD:E0::/48 — divided per campus and VLAN into /64 blocks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Site-to-Site VPN – Encrypted Tunnel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64008" cy="7132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594360" y="987552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Titkosított alagút az Engineering és Business Campus között — amit ezen belül küldenek, kívülről olvashatatlan. Olyan mint egy zárt futárszolgálat a két épület között.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847088"/>
            <a:ext cx="4023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11480" y="1847088"/>
            <a:ext cx="64008" cy="13258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94360" y="193852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IKE Phase 1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Alagút felépítés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239572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Két fél egymásnak igazolja kilétét (PSK)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Diffie-Hellman: kulcscsere biztonságosan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ISAKMP SA létrejön: AES-256 + SHA-256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847088"/>
            <a:ext cx="4023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4663440" y="1847088"/>
            <a:ext cx="64008" cy="13258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4846320" y="193852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IKE Phase 2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Forgalom titkosítás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39572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SA a Phase 1 alapján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 tunnel mode: teljes IP csomag titkosítva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PFS: minden munkamenetben új kulcs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310128"/>
            <a:ext cx="4023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411480" y="3310128"/>
            <a:ext cx="64008" cy="1325880"/>
          </a:xfrm>
          <a:prstGeom prst="rect">
            <a:avLst/>
          </a:prstGeom>
          <a:solidFill>
            <a:srgbClr val="00A89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Text 15"/>
          <p:cNvSpPr/>
          <p:nvPr/>
        </p:nvSpPr>
        <p:spPr>
          <a:xfrm>
            <a:off x="594360" y="340156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Encrypted?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385876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150.111.80.0/20 ↔ 150.111.96.0/20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Csak ez a forgalom megy az alagúton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Többi forgalom normálisan halad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3310128"/>
            <a:ext cx="4023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0" name="Shape 18"/>
          <p:cNvSpPr/>
          <p:nvPr/>
        </p:nvSpPr>
        <p:spPr>
          <a:xfrm>
            <a:off x="4663440" y="3310128"/>
            <a:ext cx="64008" cy="1325880"/>
          </a:xfrm>
          <a:prstGeom prst="rect">
            <a:avLst/>
          </a:prstGeom>
          <a:solidFill>
            <a:srgbClr val="00A89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4846320" y="340156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385876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crypto isakmp sa → alagút állapot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crypto ipsec sa → titkosítási számláló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Debug: debug crypto isakmp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 Firewall, NAT/PAT &amp; ACL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64008" cy="7132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594360" y="987552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campus has its own ASA firewall — hides internal IPs from the outside (NAT/PAT) and only passes allowed traffic (ACL). Principle: deny everything except what we explicitly permit.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828800"/>
            <a:ext cx="269748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548640" y="190195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/ PAT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267712"/>
            <a:ext cx="24231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NAT: internal IP → public IP (1:1)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PAT: multiple internal hosts → one public IP, differentiated by port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150.111.x.x range is invisible from outside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access: static NAT for servers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828800"/>
            <a:ext cx="269748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3383280" y="190195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Rules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383280" y="2267712"/>
            <a:ext cx="24231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first matching rule applies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ACL: filters by source IP, dest IP, protocol, port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 deny all at the end of the list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E.g.: permit tcp VLAN10 any eq 80 → HTTP allowed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80760" y="1828800"/>
            <a:ext cx="269748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6217920" y="190195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Inspection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217920" y="2267712"/>
            <a:ext cx="24231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traffic automatically allowed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responses to established connections can enter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Externally initiated connection: blocked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DHCP snooping: protects against rogue DHCP servers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Redundancy – EtherChannel &amp; STP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40233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64008" cy="3931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EtherChannel – Multiple Cables, One Logical Link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53619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one physical port fails, the others take over — traffic does not stop at all.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3703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physical links bundled into one logical link (LACP, 802.3ad)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Bandwidth: link capacities are summed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balancing: traffic distributed across physical ports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apply it on Distribution → Core switch uplinks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40233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64008" cy="3931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4892040" y="105156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 – Loop Prevention in Ethernet Networks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153619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redundant physical cable would cause a loop (infinite broadcast) — STP prevents this.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892040" y="2057400"/>
            <a:ext cx="3703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802.1D / RSTP (802.1w): fast convergence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Bridge: lowest Bridge ID → root of the tree structure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ports: redundant links disabled in one direction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Root Bridge fails: STP recalculates, another takes over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RSTP: converges in ms (classic STP: 30-50 sec)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MAIN-WINSRV01 – Windows Server 2019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64008" cy="7132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594360" y="987552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user management: one place to manage all users, machines and permissions. GPO deploys software and enforces security settings automatically.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847088"/>
            <a:ext cx="402336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11480" y="1847088"/>
            <a:ext cx="64008" cy="12618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94360" y="19385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Directory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Services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235000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Domain: campus.local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LDAP (389/636) + Kerberos hitelesítés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struktúra: Admin / Faculty / Students / Computers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847088"/>
            <a:ext cx="402336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4663440" y="1847088"/>
            <a:ext cx="64008" cy="12618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4846320" y="19385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Integration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35000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AD-integrált DNS zóna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DNS: gépek önmagukat regisztrálják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campus.local névfeloldás belső hálózaton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264408"/>
            <a:ext cx="402336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411480" y="3264408"/>
            <a:ext cx="64008" cy="12618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Text 15"/>
          <p:cNvSpPr/>
          <p:nvPr/>
        </p:nvSpPr>
        <p:spPr>
          <a:xfrm>
            <a:off x="594360" y="33558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DHCP Scopes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376732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Scope-ok VLAN-onként konfigurálva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DHCP reservation: szervereknek fix IP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helper-address: kérések átirányítása routeren át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3264408"/>
            <a:ext cx="402336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0" name="Shape 18"/>
          <p:cNvSpPr/>
          <p:nvPr/>
        </p:nvSpPr>
        <p:spPr>
          <a:xfrm>
            <a:off x="4663440" y="3264408"/>
            <a:ext cx="64008" cy="12618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4846320" y="33558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GPO – Software &amp; Policy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376732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deployment: MSI silent telepítés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Jelszó policy, lockout threshold érvényesítés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Automatikusan alkalmazódik tartományba lépéskor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ENG-LINSRV01 – Debian 13 Linux Server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26974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alapadatok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11480" y="1463040"/>
            <a:ext cx="2697480" cy="457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548640" y="1572768"/>
            <a:ext cx="2423160" cy="3127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OS: Debian 13 (Bookworm) – VirtualBox VM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IP: 150.111.72.20/26 (CampusNet NAT)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Hostname: ENG-LINSRV01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Access: admin + root (su -)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1005840"/>
            <a:ext cx="26974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3383280" y="1078992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Apache2 HTTP Server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697480" cy="457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3383280" y="1572768"/>
            <a:ext cx="2423160" cy="3127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 install apache2 → active on port 80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Root: /var/www/html/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HTML page: server name, IP, services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systemctl status apache2 → running status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curl localhost → HTTP 200 OK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80760" y="1005840"/>
            <a:ext cx="26974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6217920" y="1078992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rsync + cron Backup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080760" y="1463040"/>
            <a:ext cx="2697480" cy="457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/>
          <p:nvPr/>
        </p:nvSpPr>
        <p:spPr>
          <a:xfrm>
            <a:off x="6217920" y="1572768"/>
            <a:ext cx="2423160" cy="3127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/var/www/html/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Destination: /backup/www_backup/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 expression: 0 2 * * * (every day at 02:00)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rsync -av: only copies changed files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Log: /var/log/syslog – execution is logged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Services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02336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402336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MAIN-WINSRV01 – Windows Server 2019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IP: 150.111.72.10/26  ·  Domain: campus.local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856232"/>
            <a:ext cx="201168" cy="2011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841248" y="17830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Directory Domain Services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331720"/>
            <a:ext cx="201168" cy="2011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841248" y="2258568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Server – campus.local zone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07208"/>
            <a:ext cx="201168" cy="2011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841248" y="2734056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DHCP Server – scopes per VLAN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282696"/>
            <a:ext cx="201168" cy="2011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/>
          <p:nvPr/>
        </p:nvSpPr>
        <p:spPr>
          <a:xfrm>
            <a:off x="841248" y="3209544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Services – shared folders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758184"/>
            <a:ext cx="201168" cy="2011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Text 15"/>
          <p:cNvSpPr/>
          <p:nvPr/>
        </p:nvSpPr>
        <p:spPr>
          <a:xfrm>
            <a:off x="841248" y="3685032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Services – network printers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233672"/>
            <a:ext cx="201168" cy="2011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841248" y="416052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GPO Software Deployment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1005840"/>
            <a:ext cx="402336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1" name="Shape 19"/>
          <p:cNvSpPr/>
          <p:nvPr/>
        </p:nvSpPr>
        <p:spPr>
          <a:xfrm>
            <a:off x="4709160" y="1005840"/>
            <a:ext cx="402336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4846320" y="10515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ENG-LINSRV01 – Debian 13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1417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IP: 150.111.72.20/26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1856232"/>
            <a:ext cx="201168" cy="20116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Text 23"/>
          <p:cNvSpPr/>
          <p:nvPr/>
        </p:nvSpPr>
        <p:spPr>
          <a:xfrm>
            <a:off x="5138928" y="17830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Apache2 HTTP/HTTPS Web Server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46320" y="2331720"/>
            <a:ext cx="201168" cy="20116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7" name="Text 25"/>
          <p:cNvSpPr/>
          <p:nvPr/>
        </p:nvSpPr>
        <p:spPr>
          <a:xfrm>
            <a:off x="5138928" y="2258568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Backup – rsync + cron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846320" y="2807208"/>
            <a:ext cx="201168" cy="20116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9" name="Text 27"/>
          <p:cNvSpPr/>
          <p:nvPr/>
        </p:nvSpPr>
        <p:spPr>
          <a:xfrm>
            <a:off x="5138928" y="2734056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Runs: daily at 02:00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11480" y="4736592"/>
            <a:ext cx="8321040" cy="228600"/>
          </a:xfrm>
          <a:prstGeom prst="rect">
            <a:avLst/>
          </a:prstGeom>
          <a:solidFill>
            <a:srgbClr val="EBF8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502920" y="47548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7 active services · both servers communicate on the VirtualBox CampusNet NAT network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Server – Live Demonstration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1371600" cy="5029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60295" y="804672"/>
            <a:ext cx="7823409" cy="4160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484632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ENG-LINSRV01 web page – Apache2 running · Right: terminal – curl test, backup process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Wireless Network &amp; DHCP Configuration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40233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64008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59436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Wireless Access Point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94360" y="1463040"/>
            <a:ext cx="3657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WPA2-PSK titkosítás minden kampuszon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SSID kampusz-specifikus (pl. MainCampus-WiFi)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50 (Guest): internet-only, belső hálózat tiltva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GHz / 5 GHz dual-band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987552"/>
            <a:ext cx="40233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9" name="Shape 7"/>
          <p:cNvSpPr/>
          <p:nvPr/>
        </p:nvSpPr>
        <p:spPr>
          <a:xfrm>
            <a:off x="4663440" y="987552"/>
            <a:ext cx="64008" cy="1737360"/>
          </a:xfrm>
          <a:prstGeom prst="rect">
            <a:avLst/>
          </a:prstGeom>
          <a:solidFill>
            <a:srgbClr val="00A89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484632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DHCP Relay – ip helper-address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1463040"/>
            <a:ext cx="3657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DHCP broadcast csak saját szegmensben terjed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Különböző VLAN-okból nem érné el a szervert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Megoldás: ip helper-address az SVI interfészeken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kérések továbbítva a MAIN-WINSRV01-hez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11480" y="2907792"/>
            <a:ext cx="40233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411480" y="2907792"/>
            <a:ext cx="64008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59436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DHCP Scopes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94360" y="3383280"/>
            <a:ext cx="3657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10 Students:  150.111.64.0/22 (~1000 host)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20 Faculty:   150.111.68.0/23 (~500 host)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50 Wireless:  /26 (~60 host)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Reservation: szervereknek fix IP MAC alapján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907792"/>
            <a:ext cx="40233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7" name="Shape 15"/>
          <p:cNvSpPr/>
          <p:nvPr/>
        </p:nvSpPr>
        <p:spPr>
          <a:xfrm>
            <a:off x="4663440" y="2907792"/>
            <a:ext cx="64008" cy="1737360"/>
          </a:xfrm>
          <a:prstGeom prst="rect">
            <a:avLst/>
          </a:prstGeom>
          <a:solidFill>
            <a:srgbClr val="00A89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484632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DHCP Snooping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846320" y="3383280"/>
            <a:ext cx="3657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Megakadályozza a hamis DHCP szervert a hálózaton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port: csak uplink adhat ki IP-t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Untrusted: access portok – DHCP offer tiltva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table: port↔MAC↔IP hozzárendelés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and Results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192024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02920" y="166420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14600" y="960120"/>
            <a:ext cx="192024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2606040" y="100584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606040" y="166420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06040" y="19202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17720" y="960120"/>
            <a:ext cx="192024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4709160" y="100584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709160" y="166420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9160" y="19202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20840" y="960120"/>
            <a:ext cx="192024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Text 15"/>
          <p:cNvSpPr/>
          <p:nvPr/>
        </p:nvSpPr>
        <p:spPr>
          <a:xfrm>
            <a:off x="6812280" y="100584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812280" y="166420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12280" y="19202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result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2578608"/>
            <a:ext cx="4023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1" name="Shape 19"/>
          <p:cNvSpPr/>
          <p:nvPr/>
        </p:nvSpPr>
        <p:spPr>
          <a:xfrm>
            <a:off x="411480" y="2578608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576072" y="26517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configuration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331720" y="26517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and trunk port verification – show vlan brief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617720" y="2578608"/>
            <a:ext cx="4023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5" name="Shape 23"/>
          <p:cNvSpPr/>
          <p:nvPr/>
        </p:nvSpPr>
        <p:spPr>
          <a:xfrm>
            <a:off x="4617720" y="2578608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4782312" y="26517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IPv4 &amp; IPv6 DHCP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37960" y="26517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assignment in every VLAN – ping + ipconfig test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11480" y="3383280"/>
            <a:ext cx="4023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9" name="Shape 27"/>
          <p:cNvSpPr/>
          <p:nvPr/>
        </p:nvSpPr>
        <p:spPr>
          <a:xfrm>
            <a:off x="411480" y="338328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0" name="Text 28"/>
          <p:cNvSpPr/>
          <p:nvPr/>
        </p:nvSpPr>
        <p:spPr>
          <a:xfrm>
            <a:off x="576072" y="34564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OSPF routing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2331720" y="345643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 adjacency, route table consistency – show ip route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617720" y="3383280"/>
            <a:ext cx="4023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3" name="Shape 31"/>
          <p:cNvSpPr/>
          <p:nvPr/>
        </p:nvSpPr>
        <p:spPr>
          <a:xfrm>
            <a:off x="4617720" y="338328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4" name="Text 32"/>
          <p:cNvSpPr/>
          <p:nvPr/>
        </p:nvSpPr>
        <p:spPr>
          <a:xfrm>
            <a:off x="4782312" y="34564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ACL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537960" y="345643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Verifying blocked traffic is actually blocked – show ip access-lists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11480" y="4187952"/>
            <a:ext cx="83210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7" name="Shape 35"/>
          <p:cNvSpPr/>
          <p:nvPr/>
        </p:nvSpPr>
        <p:spPr>
          <a:xfrm>
            <a:off x="411480" y="4187952"/>
            <a:ext cx="64008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8" name="Text 36"/>
          <p:cNvSpPr/>
          <p:nvPr/>
        </p:nvSpPr>
        <p:spPr>
          <a:xfrm>
            <a:off x="594360" y="42611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Wireless connectivity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2834640" y="4279392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SSID visibility, WPA2 authentication, IP assignment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Methodology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02336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64008" cy="3886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594360" y="107899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Catalog – Excel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463040"/>
            <a:ext cx="352044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594360" y="1572768"/>
            <a:ext cx="37033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rows: Test ID, Description, Expected, Actual, Status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Statuses: PASS / FAIL / SKIP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Categories: Connectivity · VLAN · DHCP · OSPF · Security · Wireless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Packet Tracer simulation + IOS show commands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Jira: every FAIL logged as an open ticket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09160" y="1005840"/>
            <a:ext cx="402336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64008" cy="3886200"/>
          </a:xfrm>
          <a:prstGeom prst="rect">
            <a:avLst/>
          </a:prstGeom>
          <a:solidFill>
            <a:srgbClr val="00A89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4892040" y="107899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Failures and Fixes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892040" y="1463040"/>
            <a:ext cx="352044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4892040" y="1572768"/>
            <a:ext cx="37033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1: OSPF neighbor failed to form → timer mismatch fixed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2: DHCP scope assignment error → ip helper-address was missing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3: VLAN trunk blocking traffic → allowed VLAN list updated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failure documented in Jira, re-test performed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result: all 10 failures brought to PASS status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– Issue Tracking &amp; Project Management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1371600" cy="5029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4" name="Image 0" descr="/home/claude/campus_imgs/slide12_img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822960"/>
            <a:ext cx="7680960" cy="4069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484632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sprint · 10 bug fixes · 100% DONE · 2d 2h 13m logged work time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Teamwork &amp; Tools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09728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26974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269748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548640" y="1078992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664208"/>
            <a:ext cx="24231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tervezés, backlog management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Kördiagram – task státuszok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metrikák, failuresjegy-kezelés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005840"/>
            <a:ext cx="26974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9" name="Shape 7"/>
          <p:cNvSpPr/>
          <p:nvPr/>
        </p:nvSpPr>
        <p:spPr>
          <a:xfrm>
            <a:off x="3246120" y="1005840"/>
            <a:ext cx="269748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3383280" y="1078992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383280" y="1664208"/>
            <a:ext cx="24231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Verziókezelés – minden változás nyomon követve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struktúra, commit history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Dokumentáció és konfig fájlok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80760" y="1005840"/>
            <a:ext cx="26974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6080760" y="1005840"/>
            <a:ext cx="269748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6217920" y="1078992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217920" y="1664208"/>
            <a:ext cx="24231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Napi kommunikáció, gyors egyeztetés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Fájlmegosztás és döntési log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Csapaton belüli koordináció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/>
          <p:nvPr/>
        </p:nvSpPr>
        <p:spPr>
          <a:xfrm>
            <a:off x="607502" y="136250"/>
            <a:ext cx="7929000" cy="109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600"/>
              <a:buFont typeface="Calibri"/>
              <a:buNone/>
            </a:pPr>
            <a:r>
              <a:rPr lang="en-US" sz="2500" b="1" i="0" u="none" strike="noStrike" cap="non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JIRA/GIT</a:t>
            </a:r>
            <a:endParaRPr sz="2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lang="en-US" sz="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Sprint planning, backlog management,</a:t>
            </a:r>
            <a:endParaRPr sz="15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pie chart, task statuses, team metrics, version control</a:t>
            </a:r>
            <a:endParaRPr sz="15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7" name="Google Shape;197;p26" title="Grafiko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303175"/>
            <a:ext cx="4593525" cy="2840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1233647"/>
            <a:ext cx="9144001" cy="13839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088802" y="2617600"/>
            <a:ext cx="3592776" cy="2526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1371600"/>
            <a:ext cx="274320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Results: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Three-Campus hálózat full-mesh topológiával – nincs single point of failure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0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IPv4/IPv6 dual-stack implementation – 150.111.x.x + 2001:ABCD:E0::/48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services running: AD · DNS · DHCP · File · Print · Web · Backup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0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redundancy: EtherChannel (L2) + OSPF auto-rerouting (L3)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security: ASA · NAT/PAT · ACL · IPSec VPN · WPA2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0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Wireless integration on every campus – WPA2-PSK, VLAN segmented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4434840"/>
            <a:ext cx="9144000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457200" y="449884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Peter's &amp; Johnson's Tech  ·  Bräutigam Péter  ·  Cséplő János  |  Dombóvár, 2026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attention — we are happy to answer any questions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2116</Words>
  <Application>Microsoft Office PowerPoint</Application>
  <PresentationFormat>Diavetítés a képernyőre (16:9 oldalarány)</PresentationFormat>
  <Paragraphs>409</Paragraphs>
  <Slides>24</Slides>
  <Notes>24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Péter Bräutigam</cp:lastModifiedBy>
  <cp:revision>2</cp:revision>
  <dcterms:created xsi:type="dcterms:W3CDTF">2026-05-04T13:45:20Z</dcterms:created>
  <dcterms:modified xsi:type="dcterms:W3CDTF">2026-05-04T14:07:46Z</dcterms:modified>
</cp:coreProperties>
</file>