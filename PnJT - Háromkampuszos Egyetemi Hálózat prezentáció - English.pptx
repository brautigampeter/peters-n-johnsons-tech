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51435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3318C7-C7D5-4978-BB5E-D444F69CB847}">
  <a:tblStyle styleId="{623318C7-C7D5-4978-BB5E-D444F69CB84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project/topology.png" id="12" name="Google Shape;12;p3"/>
          <p:cNvPicPr preferRelativeResize="0"/>
          <p:nvPr/>
        </p:nvPicPr>
        <p:blipFill rotWithShape="1">
          <a:blip r:embed="rId3">
            <a:alphaModFix amt="22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lang="en-US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Three-Campus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5200"/>
              <a:buFont typeface="Calibri"/>
              <a:buNone/>
            </a:pPr>
            <a:r>
              <a:rPr b="1" lang="en-US" sz="5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University Network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3200400" y="2743200"/>
            <a:ext cx="2743200" cy="54864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C8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A0C4C8"/>
                </a:solidFill>
                <a:latin typeface="Calibri"/>
                <a:ea typeface="Calibri"/>
                <a:cs typeface="Calibri"/>
                <a:sym typeface="Calibri"/>
              </a:rPr>
              <a:t>Design  ·  Configuration  ·  Documentation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446227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Peter's &amp; Johnson's Tech  |  Bräutigam Péter  ·  Cséplő János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C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A0C4C8"/>
                </a:solidFill>
                <a:latin typeface="Calibri"/>
                <a:ea typeface="Calibri"/>
                <a:cs typeface="Calibri"/>
                <a:sym typeface="Calibri"/>
              </a:rPr>
              <a:t>Cisco Packet Tracer 9.0.0  +  VirtualBox  |  Dombóvár,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11480" y="1005840"/>
            <a:ext cx="393192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11480" y="1005840"/>
            <a:ext cx="64008" cy="3291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Bräutigam Péter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94360" y="15361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Project Manager &amp; Network Designer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94360" y="1920240"/>
            <a:ext cx="3657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Network architecture design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IP addressing and routing scheme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MAIN-WINSRV01 configuration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Jira project management, sprint planning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800600" y="1005840"/>
            <a:ext cx="393192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800600" y="1005840"/>
            <a:ext cx="64008" cy="3291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983480" y="11430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Cséplő János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983480" y="15361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Configuration, Testing &amp; Linux ops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983480" y="1920240"/>
            <a:ext cx="3657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Configuration testing, 100+ cases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ENG-LINSRV01 (Debian 13) management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Test catalog and Jira documentation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Git version control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1480" y="4434840"/>
            <a:ext cx="8321040" cy="502920"/>
          </a:xfrm>
          <a:prstGeom prst="rect">
            <a:avLst/>
          </a:prstGeom>
          <a:solidFill>
            <a:srgbClr val="EBF8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02920" y="448056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Project Management: Agile / Scrum  ·  Tools: Jira  ·  Git  ·  Discord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11480" y="960120"/>
            <a:ext cx="5212080" cy="1207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11480" y="960120"/>
            <a:ext cx="64008" cy="12070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94360" y="1005840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Project Goal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94360" y="129844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Design, configure and test a three-campus university network — reliable, scalable infrastructure with VLAN segmentation, dual-stack IPv4/IPv6 addressing and built-in redundancy.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11480" y="2304288"/>
            <a:ext cx="5212080" cy="76809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66928" y="2368296"/>
            <a:ext cx="4892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Campus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66928" y="2706624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EE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0EEED"/>
                </a:solidFill>
                <a:latin typeface="Calibri"/>
                <a:ea typeface="Calibri"/>
                <a:cs typeface="Calibri"/>
                <a:sym typeface="Calibri"/>
              </a:rPr>
              <a:t>Main campus – IT and administration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11480" y="3191256"/>
            <a:ext cx="5212080" cy="768096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66928" y="3255264"/>
            <a:ext cx="4892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 Campus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66928" y="3593592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EE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0EEED"/>
                </a:solidFill>
                <a:latin typeface="Calibri"/>
                <a:ea typeface="Calibri"/>
                <a:cs typeface="Calibri"/>
                <a:sym typeface="Calibri"/>
              </a:rPr>
              <a:t>Engineering labs and research infrastructure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11480" y="4078224"/>
            <a:ext cx="5212080" cy="768096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66928" y="4142232"/>
            <a:ext cx="4892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Campus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66928" y="4480560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D0EEED"/>
                </a:solidFill>
                <a:latin typeface="Calibri"/>
                <a:ea typeface="Calibri"/>
                <a:cs typeface="Calibri"/>
                <a:sym typeface="Calibri"/>
              </a:rPr>
              <a:t>Economics faculty and business administration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806440" y="960120"/>
            <a:ext cx="292608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806440" y="960120"/>
            <a:ext cx="54864" cy="86868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961888" y="10515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Full-mesh topology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961888" y="1344168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campus directly connected – no single point of failure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806440" y="1947672"/>
            <a:ext cx="292608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806440" y="1947672"/>
            <a:ext cx="54864" cy="86868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961888" y="203911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VLAN segmentation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961888" y="23317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VLANs per campus – traffic and security logically separated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806440" y="2935224"/>
            <a:ext cx="292608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806440" y="2935224"/>
            <a:ext cx="54864" cy="86868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961888" y="302666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IPv4/IPv6 dual-stack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961888" y="3319272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Parallel addressing on every segment – future-proof infrastructure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806440" y="3922776"/>
            <a:ext cx="292608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806440" y="3922776"/>
            <a:ext cx="54864" cy="86868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961888" y="401421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Built-in redundancy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961888" y="4306824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EtherChannel (L2) + OSPF auto-rerouting (L3) – automatic failover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Network Topology – Full-Mesh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394960" y="960120"/>
            <a:ext cx="33375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394960" y="960120"/>
            <a:ext cx="64008" cy="10972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559552" y="10515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Full-Mesh Architecture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559552" y="1380744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Every campus is directly interconnected with one another (3 P2P links). </a:t>
            </a:r>
            <a:b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If one fails → traffic automatically reroutes through the other path.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394960" y="2194560"/>
            <a:ext cx="33375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394960" y="2194560"/>
            <a:ext cx="64008" cy="10972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559552" y="22860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Layered Campus Design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559552" y="2615184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Core switch → Distribution → Access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Each layer performs a different task: routing, interconnection, and endpoints.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394960" y="3429000"/>
            <a:ext cx="333756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394960" y="3429000"/>
            <a:ext cx="64008" cy="10972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559552" y="35204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Devices per Campus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559552" y="3849624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1× ISR Router · 1× ASA Tűzfal · 1× L3 Core Switch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2× Distribution Switch · Access switch-ek · Access Point-ok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project/topology.png"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960120"/>
            <a:ext cx="4754880" cy="352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Simulation and Server Environment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11480" y="960120"/>
            <a:ext cx="507492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11480" y="960120"/>
            <a:ext cx="5074920" cy="4572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48640" y="100584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Cisco Packet Tracer 9.0.0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project/topology.png"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08760"/>
            <a:ext cx="484632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548640" y="411480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Full functional simulation — routing, VLAN, DHCP, wireless,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security configuration all actually runs and is testable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669280" y="960120"/>
            <a:ext cx="306324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669280" y="960120"/>
            <a:ext cx="3063240" cy="457200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779008" y="1005840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VirtualBox Servers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669280" y="1536192"/>
            <a:ext cx="3063240" cy="3657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779008" y="162763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MAIN-WINSRV01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779008" y="1947672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Windows Server 2019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IP: 150.111.72.10/26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Domain: campus.local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779008" y="260604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Active Directory + DNS + DHCP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File &amp; Print Services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GPO Software Deployment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669280" y="3456432"/>
            <a:ext cx="3063240" cy="3657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779008" y="354787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ENG-LINSRV01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779008" y="386791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Debian 13 Linux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IP: 150.111.72.20/26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779008" y="427939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Apache2 HTTP/HTTPS Web Server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Automated backup – rsync + cron (02:00)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Main Campus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394960" y="960120"/>
            <a:ext cx="333756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394960" y="960120"/>
            <a:ext cx="333756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532120" y="100584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Campus Characteristics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532120" y="13898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Purpose and Role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532120" y="1664208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Central administration and IT infrastructure.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IP range: 150.111.64.0/19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532120" y="221284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Servers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532120" y="248716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MAIN-WINSRV01 (Win Server 2019)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AD, DNS, DHCP, File, Print, GPO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Webszerver (HTTP/HTTPS)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532120" y="316382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532120" y="343814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ASA Firewall + NAT/PAT – hiding internal IPs.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VLAN ACL, port security, DHCP snooping.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532120" y="39319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Routing and Redundancy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532120" y="4206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OSPF/OSPFv3 · Full-mesh · EtherChannel L2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960120"/>
            <a:ext cx="4754880" cy="352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Engineering Campus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394960" y="960120"/>
            <a:ext cx="333756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394960" y="960120"/>
            <a:ext cx="333756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532120" y="100584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Campus Characteristics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532120" y="13898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Purpose and Role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532120" y="1664208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Engineering labs, research infrastructure.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IP range: 150.111.80.0/20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532120" y="221284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Servers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532120" y="248716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ENG-LINSRV01 (Debian 13)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Apache2 web server + rsync backup (02:00)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DNS – local name resolution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532120" y="316382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532120" y="343814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ASA Firewall · WPA2-PSK wireless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VLAN ACL · IPSec VPN → Business Campus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532120" y="39319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Routing and Redundancy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532120" y="4206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OSPF/OSPFv3 · Full-mesh · Auto-rerouting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960120"/>
            <a:ext cx="4754880" cy="352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 Campus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mpus_imgs/slide7_img0.png" id="163" name="Google Shape;1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960120"/>
            <a:ext cx="475488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/>
          <p:nvPr/>
        </p:nvSpPr>
        <p:spPr>
          <a:xfrm>
            <a:off x="5394960" y="960120"/>
            <a:ext cx="333756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5394960" y="960120"/>
            <a:ext cx="333756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532120" y="100584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Campus Characteristics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532120" y="13898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Purpose and Role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532120" y="1664208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Faculty of Economics and business administration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IP range: 150.111.96.0/20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532120" y="221284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Servers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532120" y="2487168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Webszerver (HTTP/HTTPS) – belső kampusz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DNS – helyi névfeloldás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5532120" y="303580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532120" y="331012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ASA Firewall · VLAN ACL · Port security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IPSec VPN → Engineering Campus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532120" y="380390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Routing and Redundancy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532120" y="4078224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OSPF/OSPFv3 · Full-mesh · STP (loop prevention)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VLAN Segmentation – Logical Separation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11480" y="960120"/>
            <a:ext cx="64008" cy="7132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594360" y="98755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physical network – multiple logically separated segments. Students cannot see admin traffic, printers cannot reach servers, and guest WiFi is completely isolated.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p11"/>
          <p:cNvGraphicFramePr/>
          <p:nvPr/>
        </p:nvGraphicFramePr>
        <p:xfrm>
          <a:off x="41148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{623318C7-C7D5-4978-BB5E-D444F69CB847}</a:tableStyleId>
              </a:tblPr>
              <a:tblGrid>
                <a:gridCol w="594350"/>
                <a:gridCol w="1463050"/>
                <a:gridCol w="1463050"/>
                <a:gridCol w="1828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VLAN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Név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Subnet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Megjegyzés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Students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/22 (~1000 host)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Largest segment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Faculty/Staff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/23 (~500 host)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Separated administration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Classrooms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/24 (~250 host)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Classroom AV and equipment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/24 (~250 host)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 traffic only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Guest WiFi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/26 (~60 host)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Internet-only, internal blocked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Printers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/28 (~14 host)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Minimal segment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11"/>
          <p:cNvSpPr/>
          <p:nvPr/>
        </p:nvSpPr>
        <p:spPr>
          <a:xfrm>
            <a:off x="5943600" y="1828800"/>
            <a:ext cx="27889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6080760" y="190195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Inter-VLAN Routing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080760" y="2212848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Traffic between VLANs can only pass through a router or an L3 switch.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→ Core switch SVIs handle this.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943600" y="3383280"/>
            <a:ext cx="27889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6080760" y="34564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IPv6 Addressing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080760" y="3794778"/>
            <a:ext cx="2560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Prefix: 2001:ABCD:E0::/48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/64 – for each VLAN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/126 – for router-to-router P2P links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IP Addressing Scheme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411480" y="987552"/>
            <a:ext cx="1920240" cy="65836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02920" y="1024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Campus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02920" y="12984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EE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0EEED"/>
                </a:solidFill>
                <a:latin typeface="Calibri"/>
                <a:ea typeface="Calibri"/>
                <a:cs typeface="Calibri"/>
                <a:sym typeface="Calibri"/>
              </a:rPr>
              <a:t>150.111.64.0/19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2514600" y="987552"/>
            <a:ext cx="1920240" cy="65836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2606040" y="1024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 Campus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2606040" y="12984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EE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0EEED"/>
                </a:solidFill>
                <a:latin typeface="Calibri"/>
                <a:ea typeface="Calibri"/>
                <a:cs typeface="Calibri"/>
                <a:sym typeface="Calibri"/>
              </a:rPr>
              <a:t>150.111.80.0/20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617720" y="987552"/>
            <a:ext cx="1920240" cy="65836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4709160" y="1024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Campus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4709160" y="12984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EE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0EEED"/>
                </a:solidFill>
                <a:latin typeface="Calibri"/>
                <a:ea typeface="Calibri"/>
                <a:cs typeface="Calibri"/>
                <a:sym typeface="Calibri"/>
              </a:rPr>
              <a:t>150.111.96.0/20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6720840" y="987552"/>
            <a:ext cx="1920240" cy="65836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6812280" y="10241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subnet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6812280" y="12984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EED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0EEED"/>
                </a:solidFill>
                <a:latin typeface="Calibri"/>
                <a:ea typeface="Calibri"/>
                <a:cs typeface="Calibri"/>
                <a:sym typeface="Calibri"/>
              </a:rPr>
              <a:t>150.111.72.0/26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411480" y="1847088"/>
            <a:ext cx="83210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411480" y="1847088"/>
            <a:ext cx="64008" cy="685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94360" y="191109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P2P Router Links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2651760" y="1938528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Between campuses /30 IPv4 (serial) and /126 IPv6 — only 2 hosts/segment, minimal waste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411480" y="2615184"/>
            <a:ext cx="83210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11480" y="2615184"/>
            <a:ext cx="64008" cy="6858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594360" y="267919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DHCP Scopes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2651760" y="2706624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Each VLAN gets its own DHCP scope from MAIN-WINSRV01. ip helper-address forwards requests via the router.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411480" y="3383280"/>
            <a:ext cx="83210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411480" y="3383280"/>
            <a:ext cx="64008" cy="685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594360" y="34472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Server IPs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2651760" y="347472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MAIN-WINSRV01: 150.111.72.10  |  ENG-LINSRV01: 150.111.72.20  —  static IP, DHCP reservation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11480" y="4151376"/>
            <a:ext cx="83210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11480" y="4151376"/>
            <a:ext cx="64008" cy="6858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594360" y="421538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IPv6 Prefix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2651760" y="4242816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2001:ABCD:E0::/48 — divided per campus and VLAN into /64 blocks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IPSec Site-to-Site VPN – Encrypted Tunnel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11480" y="960120"/>
            <a:ext cx="64008" cy="7132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594360" y="98755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1100">
                <a:solidFill>
                  <a:schemeClr val="dk1"/>
                </a:solidFill>
              </a:rPr>
              <a:t>Encrypted tunnel between the Engineering and Business Campuses — anything sent within it is unreadable from the outside. It is like a private courier service between the two buildings.</a:t>
            </a:r>
            <a:endParaRPr i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411480" y="1847088"/>
            <a:ext cx="402336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411480" y="1847088"/>
            <a:ext cx="64008" cy="13258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94360" y="193852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IKE Phase 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Tunnel setup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594372" y="2377441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Two parties authenticate each other's identity (PSK).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Diffie-Hellman: secure key exchange.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ISAKMP SA established: AES-256 + SHA-256.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4663440" y="1847088"/>
            <a:ext cx="402336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4663440" y="1847088"/>
            <a:ext cx="64008" cy="13258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4846320" y="193852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IKE Phase 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Traffic encryption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4846320" y="239572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IPSec SA based on Phase 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ESP tunnel mode: full IP packet encrypted.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PFS (Perfect Forward Secrecy): new key for every session.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411480" y="3310128"/>
            <a:ext cx="402336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411480" y="3310128"/>
            <a:ext cx="64008" cy="132588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594360" y="340156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What is Encrypted?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594360" y="385876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150.111.80.0/20 ↔ 150.111.96.0/20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Only this traffic passes through the tunnel.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Other traffic proceeds normally.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4663440" y="3310128"/>
            <a:ext cx="402336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663440" y="3310128"/>
            <a:ext cx="64008" cy="132588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4846320" y="340156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Verification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4846320" y="385876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show crypto isakmp sa → tunnel status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show crypto ipsec sa → encryption counters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Debug: debug crypto isakmp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ASA Firewall, NAT/PAT &amp; ACL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411480" y="960120"/>
            <a:ext cx="64008" cy="7132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594360" y="98755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campus has its own ASA firewall — hides internal IPs from the outside (NAT/PAT) and only passes allowed traffic (ACL). Principle: deny everything except what we explicitly permit.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411480" y="1828800"/>
            <a:ext cx="2697480" cy="297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548640" y="19019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NAT / PAT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548640" y="2267712"/>
            <a:ext cx="242316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NAT: internal IP → public IP (1:1)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PAT: multiple internal hosts → one public IP, differentiated by port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150.111.x.x range is invisible from outside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Server access: static NAT for servers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3246120" y="1828800"/>
            <a:ext cx="2697480" cy="297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3383280" y="19019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ACL Rules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3383280" y="2267712"/>
            <a:ext cx="242316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Order matters: first matching rule applies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Extended ACL: filters by source IP, dest IP, protocol, port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Implicit deny all at the end of the list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E.g.: permit tcp VLAN10 any eq 80 → HTTP allowed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6080760" y="1828800"/>
            <a:ext cx="2697480" cy="297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6217920" y="19019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Stateful Inspection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6217920" y="2267712"/>
            <a:ext cx="242316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Return traffic automatically allowed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Only responses to established connections can enter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Externally initiated connection: blocked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DHCP snooping: protects against rogue DHCP servers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Redundancy – EtherChannel &amp; STP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411480" y="960120"/>
            <a:ext cx="40233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411480" y="960120"/>
            <a:ext cx="64008" cy="3931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594360" y="105156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EtherChannel – Multiple Cables, One Logical Link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594360" y="1536192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If one physical port fails, the others take over — traffic does not stop at all.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594360" y="2057400"/>
            <a:ext cx="370332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Multiple physical links bundled into one logical link (LACP, 802.3ad)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Bandwidth: link capacities are summed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Load balancing: traffic distributed across physical ports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 apply it on Distribution → Core switch uplinks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4709160" y="960120"/>
            <a:ext cx="40233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4709160" y="960120"/>
            <a:ext cx="64008" cy="393192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4892040" y="105156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STP – Loop Prevention in Ethernet Networks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4892040" y="1536192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redundant physical cable would cause a loop (infinite broadcast) — STP prevents this.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4892040" y="2057400"/>
            <a:ext cx="370332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IEEE 802.1D / RSTP (802.1w): fast convergence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Root Bridge: lowest Bridge ID → root of the tree structure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Blocked ports: redundant links disabled in one direction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If Root Bridge fails: STP recalculates, another takes over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RSTP: converges in ms (classic STP: 30-50 sec)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MAIN-WINSRV01 – Windows Server 2019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411480" y="960120"/>
            <a:ext cx="64008" cy="7132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594360" y="98755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Centralized user management: one place to manage all users, machines and permissions. GPO deploys software and enforces security settings automatically.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411480" y="1847088"/>
            <a:ext cx="402336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411480" y="1847088"/>
            <a:ext cx="64008" cy="12618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594360" y="193852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Active Directory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Domain Services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633810" y="2377446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Domain: campus.local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LDAP (389/636) + Kerberos authentication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OU structure: Admin / Faculty / Students / Computers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4663440" y="1847088"/>
            <a:ext cx="402336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4663440" y="1847088"/>
            <a:ext cx="64008" cy="12618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4846320" y="193852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DNS Integration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4846320" y="235000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AD-integrated DNS zone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Dynamic DNS: hosts register themselves automatically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campus.local name resolution on the internal network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411480" y="3264408"/>
            <a:ext cx="402336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411480" y="3264408"/>
            <a:ext cx="64008" cy="12618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594360" y="335584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DHCP Scopes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594360" y="376732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Scopes configured per VLAN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DHCP reservation: fixed IPs for servers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ip helper-address: forwarding requests through the router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4663440" y="3264408"/>
            <a:ext cx="402336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4663440" y="3264408"/>
            <a:ext cx="64008" cy="12618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4846320" y="335584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GPO – Software &amp; Policy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4846320" y="376732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Software deployment: MSI silent installation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Password policy and lockout threshold enforcement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Automatically applied upon domain join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ENG-LINSRV01 – Debian 13 Linux Server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411480" y="1005840"/>
            <a:ext cx="26974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548640" y="107899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Servers alapadatok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411480" y="1463040"/>
            <a:ext cx="2697480" cy="457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548640" y="1572768"/>
            <a:ext cx="2423160" cy="3127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OS: Debian 13 (Bookworm) – VirtualBox VM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IP: 150.111.72.20/26 (CampusNet NAT)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Hostname: ENG-LINSRV01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Access: admin + root (su -)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3246120" y="1005840"/>
            <a:ext cx="26974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3383280" y="107899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Apache2 HTTP Server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3246120" y="1463040"/>
            <a:ext cx="2697480" cy="457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3383280" y="1572768"/>
            <a:ext cx="2423160" cy="3127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apt install apache2 → active on port 80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Root: /var/www/html/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Custom HTML page: server name, IP, services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systemctl status apache2 → running status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Test: curl localhost → HTTP 200 OK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6080760" y="1005840"/>
            <a:ext cx="26974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217920" y="107899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rsync + cron Backup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6080760" y="1463040"/>
            <a:ext cx="2697480" cy="457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6217920" y="1572768"/>
            <a:ext cx="2423160" cy="3127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Source: /var/www/html/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Destination: /backup/www_backup/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Cron expression: 0 2 * * * (every day at 02:00)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rsync -av: only copies changed files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Log: /var/log/syslog – execution is logged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Implemented Services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411480" y="1005840"/>
            <a:ext cx="402336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548640" y="105156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MAIN-WINSRV01 – Windows Server 2019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IP: 150.111.72.10/26  ·  Domain: campus.local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548640" y="1856232"/>
            <a:ext cx="201168" cy="2011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841248" y="178308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Active Directory Domain Services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548640" y="2331720"/>
            <a:ext cx="201168" cy="2011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841248" y="2258568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DNS Server – campus.local zone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548640" y="2807208"/>
            <a:ext cx="201168" cy="2011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841248" y="2734056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DHCP Server – scopes per VLAN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548640" y="3282696"/>
            <a:ext cx="201168" cy="2011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841248" y="3209544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File Services – shared folders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548640" y="3758184"/>
            <a:ext cx="201168" cy="2011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841248" y="3685032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Print Services – network printers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548640" y="4233672"/>
            <a:ext cx="201168" cy="2011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841248" y="41605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GPO Software Deployment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4709160" y="1005840"/>
            <a:ext cx="402336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4709160" y="1005840"/>
            <a:ext cx="402336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4846320" y="105156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ENG-LINSRV01 – Debian 13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IP: 150.111.72.20/26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4846320" y="1856232"/>
            <a:ext cx="201168" cy="20116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5138928" y="178308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Apache2 HTTP/HTTPS Web Server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4846320" y="2331720"/>
            <a:ext cx="201168" cy="20116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5138928" y="2258568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Automated Backup – rsync + cron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4846320" y="2807208"/>
            <a:ext cx="201168" cy="20116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5138928" y="2734056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Runs: daily at 02:00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411480" y="4736592"/>
            <a:ext cx="8321040" cy="228600"/>
          </a:xfrm>
          <a:prstGeom prst="rect">
            <a:avLst/>
          </a:prstGeom>
          <a:solidFill>
            <a:srgbClr val="EBF8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Total: 7 active services · both servers communicate on the VirtualBox CampusNet NAT network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Linux Server – Live Demonstration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457200" y="713232"/>
            <a:ext cx="1371600" cy="5029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295" y="804672"/>
            <a:ext cx="7823409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C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0C4C8"/>
                </a:solidFill>
                <a:latin typeface="Calibri"/>
                <a:ea typeface="Calibri"/>
                <a:cs typeface="Calibri"/>
                <a:sym typeface="Calibri"/>
              </a:rPr>
              <a:t>Left: ENG-LINSRV01 web page – Apache2 running · Right: terminal – curl test, backup process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Wireless Network &amp; DHCP Configuration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411480" y="987552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411480" y="987552"/>
            <a:ext cx="64008" cy="1737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Wireless Access Point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594360" y="1463040"/>
            <a:ext cx="36576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WPA2-PSK encryption on every campus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Campus-specific SSIDs (e.g., MainCampus-WiFi)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VLAN 50 (Guest): internet-only, internal network access denied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2.4 GHz / 5 GHz dual-band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4663440" y="987552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4663440" y="987552"/>
            <a:ext cx="64008" cy="1737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DHCP Relay – ip helper-address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4846320" y="1463040"/>
            <a:ext cx="36576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DHCP broadcasts propagate only within their own segment.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server would be unreachable from different VLANs.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Solution: </a:t>
            </a: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ip helper-address</a:t>
            </a:r>
            <a:r>
              <a:rPr lang="en-US" sz="1100">
                <a:solidFill>
                  <a:schemeClr val="dk1"/>
                </a:solidFill>
              </a:rPr>
              <a:t> on the SVI interfaces.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→ Requests forwarded to MAIN-WINSRV01.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411480" y="2907792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411480" y="2907792"/>
            <a:ext cx="64008" cy="1737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594360" y="3017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DHCP Scopes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594360" y="3383280"/>
            <a:ext cx="36576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VLAN 10 Students:  150.111.64.0/22 (~1000 host)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VLAN 20 Faculty:   150.111.68.0/23 (~500 host)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VLAN 50 Wireless:  /26 (~60 host)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Reservation: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Fixed IP for servers based on MAC address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4663440" y="2907792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4663440" y="2907792"/>
            <a:ext cx="64008" cy="1737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4846320" y="3017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DHCP Snooping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4846320" y="3383280"/>
            <a:ext cx="36576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Prevents rogue DHCP servers on the network.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Trusted port: only the uplink can issue IP addresses.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Untrusted: access ports – DHCP offers are blocked.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Binding table: Port↔MAC↔IP mapping.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Testing and Results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411480" y="960120"/>
            <a:ext cx="1920240" cy="14173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502920" y="1005840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502920" y="16642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502920" y="19202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C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0C4C8"/>
                </a:solidFill>
                <a:latin typeface="Calibri"/>
                <a:ea typeface="Calibri"/>
                <a:cs typeface="Calibri"/>
                <a:sym typeface="Calibri"/>
              </a:rPr>
              <a:t>executed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2514600" y="960120"/>
            <a:ext cx="1920240" cy="14173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2606040" y="1005840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2606040" y="16642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areas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2606040" y="19202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C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0C4C8"/>
                </a:solidFill>
                <a:latin typeface="Calibri"/>
                <a:ea typeface="Calibri"/>
                <a:cs typeface="Calibri"/>
                <a:sym typeface="Calibri"/>
              </a:rPr>
              <a:t>covered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4617720" y="960120"/>
            <a:ext cx="1920240" cy="14173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4709160" y="1005840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4709160" y="16642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failures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4709160" y="19202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C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0C4C8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6720840" y="960120"/>
            <a:ext cx="1920240" cy="14173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6812280" y="1005840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6812280" y="16642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6812280" y="19202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C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0C4C8"/>
                </a:solidFill>
                <a:latin typeface="Calibri"/>
                <a:ea typeface="Calibri"/>
                <a:cs typeface="Calibri"/>
                <a:sym typeface="Calibri"/>
              </a:rPr>
              <a:t>final result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411480" y="2578608"/>
            <a:ext cx="40233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411480" y="2578608"/>
            <a:ext cx="64008" cy="685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576072" y="26517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VLAN configuration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2331720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Segmentation and trunk port verification – show vlan brief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4617720" y="2578608"/>
            <a:ext cx="40233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1"/>
          <p:cNvSpPr/>
          <p:nvPr/>
        </p:nvSpPr>
        <p:spPr>
          <a:xfrm>
            <a:off x="4617720" y="2578608"/>
            <a:ext cx="64008" cy="685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4782312" y="26517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IPv4 &amp; IPv6 DHCP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6537960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IP assignment in every VLAN – ping + ipconfig test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1"/>
          <p:cNvSpPr/>
          <p:nvPr/>
        </p:nvSpPr>
        <p:spPr>
          <a:xfrm>
            <a:off x="411480" y="3383280"/>
            <a:ext cx="40233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411480" y="3383280"/>
            <a:ext cx="64008" cy="685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576072" y="34564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OSPF routing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2331720" y="345643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Neighbor adjacency, route table consistency – show ip route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4617720" y="3383280"/>
            <a:ext cx="40233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4617720" y="3383280"/>
            <a:ext cx="64008" cy="685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4782312" y="34564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Security &amp; ACL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6537960" y="345643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Verifying blocked traffic is actually blocked – show ip access-lists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411480" y="4187952"/>
            <a:ext cx="83210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411480" y="4187952"/>
            <a:ext cx="64008" cy="6858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1"/>
          <p:cNvSpPr/>
          <p:nvPr/>
        </p:nvSpPr>
        <p:spPr>
          <a:xfrm>
            <a:off x="594360" y="426110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Wireless connectivity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1"/>
          <p:cNvSpPr/>
          <p:nvPr/>
        </p:nvSpPr>
        <p:spPr>
          <a:xfrm>
            <a:off x="2834640" y="4279392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SSID visibility, WPA2 authentication, IP assignment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2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Testing Methodology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411480" y="1005840"/>
            <a:ext cx="402336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411480" y="1005840"/>
            <a:ext cx="64008" cy="38862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594360" y="1078992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Test Catalog – Excel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594360" y="1463040"/>
            <a:ext cx="3520440" cy="3657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594360" y="1572768"/>
            <a:ext cx="370332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100+ rows: Test ID, Description, Expected, Actual, Status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Statuses: PASS / FAIL / SKIP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Categories: Connectivity · VLAN · DHCP · OSPF · Security · Wireless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Verification: Packet Tracer simulation + IOS show commands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Jira: every FAIL logged as an open ticket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4709160" y="1005840"/>
            <a:ext cx="402336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4709160" y="1005840"/>
            <a:ext cx="64008" cy="38862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4892040" y="1078992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Typical Failures and Fixes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4892040" y="1463040"/>
            <a:ext cx="3520440" cy="3657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4892040" y="1572768"/>
            <a:ext cx="370332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Error 1: OSPF neighbor failed to form → timer mismatch fixed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Error 2: DHCP scope assignment error → ip helper-address was missing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Error 3: VLAN trunk blocking traffic → allowed VLAN list updated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Every failure documented in Jira, re-test performed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Final result: all 10 failures brought to PASS status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3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Jira – Issue Tracking &amp; Project Management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457200" y="713232"/>
            <a:ext cx="1371600" cy="5029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mpus_imgs/slide12_img0.png" id="468" name="Google Shape;4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822960"/>
            <a:ext cx="76809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3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C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0C4C8"/>
                </a:solidFill>
                <a:latin typeface="Calibri"/>
                <a:ea typeface="Calibri"/>
                <a:cs typeface="Calibri"/>
                <a:sym typeface="Calibri"/>
              </a:rPr>
              <a:t>February sprint · 10 bug fixes · 100% DONE · 2d 2h 13m logged work time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Teamwork &amp; Tools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4"/>
          <p:cNvSpPr/>
          <p:nvPr/>
        </p:nvSpPr>
        <p:spPr>
          <a:xfrm>
            <a:off x="411480" y="804672"/>
            <a:ext cx="1097280" cy="502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411480" y="1005840"/>
            <a:ext cx="26974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411480" y="1005840"/>
            <a:ext cx="269748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/>
          <p:nvPr/>
        </p:nvSpPr>
        <p:spPr>
          <a:xfrm>
            <a:off x="548640" y="107899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Jira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548640" y="1664208"/>
            <a:ext cx="2423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Sprint planning, backlog management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Pie chart – task statuses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Team metrics, incident ticket management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3246120" y="1005840"/>
            <a:ext cx="26974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3246120" y="1005840"/>
            <a:ext cx="269748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3383280" y="107899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3383280" y="1664208"/>
            <a:ext cx="2423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Version control – every change is tracked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Branch structure, commit history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Documentation and configuration files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6080760" y="1005840"/>
            <a:ext cx="26974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6080760" y="1005840"/>
            <a:ext cx="269748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6217920" y="107899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Discord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/>
          <p:nvPr/>
        </p:nvSpPr>
        <p:spPr>
          <a:xfrm>
            <a:off x="6217920" y="1664208"/>
            <a:ext cx="2423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Daily communication, quick sync-ups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File sharing and decision log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Intra-team coordination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5"/>
          <p:cNvSpPr/>
          <p:nvPr/>
        </p:nvSpPr>
        <p:spPr>
          <a:xfrm>
            <a:off x="607502" y="136250"/>
            <a:ext cx="7929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2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JIRA/GIT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Sprint planning, backlog management,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pie chart, task statuses, team metrics, version control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5" name="Google Shape;495;p25" title="Grafikon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03175"/>
            <a:ext cx="4593525" cy="284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33647"/>
            <a:ext cx="9144001" cy="1383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8802" y="2617600"/>
            <a:ext cx="3592776" cy="252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6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3200400" y="1371600"/>
            <a:ext cx="2743200" cy="54864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457200" y="155448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Project Results: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640080" y="1972230"/>
            <a:ext cx="78639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Clr>
                <a:srgbClr val="02C39A"/>
              </a:buClr>
              <a:buSzPts val="1900"/>
              <a:buFont typeface="Calibri"/>
              <a:buChar char="•"/>
            </a:pPr>
            <a:r>
              <a:rPr b="1" lang="en-US" sz="1500">
                <a:solidFill>
                  <a:srgbClr val="02C39A"/>
                </a:solidFill>
              </a:rPr>
              <a:t>Three-Campus network with full-mesh topology – no single point of failure</a:t>
            </a:r>
            <a:endParaRPr b="1" sz="1500">
              <a:solidFill>
                <a:srgbClr val="02C39A"/>
              </a:solidFill>
            </a:endParaRPr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Clr>
                <a:srgbClr val="02C39A"/>
              </a:buClr>
              <a:buSzPts val="1900"/>
              <a:buFont typeface="Calibri"/>
              <a:buChar char="•"/>
            </a:pPr>
            <a:r>
              <a:rPr b="1" lang="en-US" sz="1500">
                <a:solidFill>
                  <a:srgbClr val="02C39A"/>
                </a:solidFill>
              </a:rPr>
              <a:t>IPv4/IPv6 dual-stack implementation – 150.111.x.x + 2001:ABCD:E0::/48</a:t>
            </a:r>
            <a:endParaRPr b="1" sz="1500">
              <a:solidFill>
                <a:srgbClr val="02C39A"/>
              </a:solidFill>
            </a:endParaRPr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Clr>
                <a:srgbClr val="02C39A"/>
              </a:buClr>
              <a:buSzPts val="1900"/>
              <a:buFont typeface="Calibri"/>
              <a:buChar char="•"/>
            </a:pPr>
            <a:r>
              <a:rPr b="1" lang="en-US" sz="1500">
                <a:solidFill>
                  <a:srgbClr val="02C39A"/>
                </a:solidFill>
              </a:rPr>
              <a:t>7 services running: AD · DNS · DHCP · File · Print · Web · Backup</a:t>
            </a:r>
            <a:endParaRPr b="1" sz="1500">
              <a:solidFill>
                <a:srgbClr val="02C39A"/>
              </a:solidFill>
            </a:endParaRPr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Clr>
                <a:srgbClr val="02C39A"/>
              </a:buClr>
              <a:buSzPts val="1900"/>
              <a:buFont typeface="Calibri"/>
              <a:buChar char="•"/>
            </a:pPr>
            <a:r>
              <a:rPr b="1" lang="en-US" sz="1500">
                <a:solidFill>
                  <a:srgbClr val="02C39A"/>
                </a:solidFill>
              </a:rPr>
              <a:t>Multi-layer redundancy: EtherChannel (L2) + OSPF auto-rerouting (L3)</a:t>
            </a:r>
            <a:endParaRPr b="1" sz="1500">
              <a:solidFill>
                <a:srgbClr val="02C39A"/>
              </a:solidFill>
            </a:endParaRPr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Clr>
                <a:srgbClr val="02C39A"/>
              </a:buClr>
              <a:buSzPts val="1900"/>
              <a:buFont typeface="Calibri"/>
              <a:buChar char="•"/>
            </a:pPr>
            <a:r>
              <a:rPr b="1" lang="en-US" sz="1500">
                <a:solidFill>
                  <a:srgbClr val="02C39A"/>
                </a:solidFill>
              </a:rPr>
              <a:t>Comprehensive security: ASA · NAT/PAT · ACL · IPsec VPN · WPA2</a:t>
            </a:r>
            <a:endParaRPr b="1" sz="1500">
              <a:solidFill>
                <a:srgbClr val="02C39A"/>
              </a:solidFill>
            </a:endParaRPr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Clr>
                <a:srgbClr val="02C39A"/>
              </a:buClr>
              <a:buSzPts val="1900"/>
              <a:buFont typeface="Calibri"/>
              <a:buChar char="•"/>
            </a:pPr>
            <a:r>
              <a:rPr b="1" lang="en-US" sz="1500">
                <a:solidFill>
                  <a:srgbClr val="02C39A"/>
                </a:solidFill>
              </a:rPr>
              <a:t>Wireless integration on every campus – WPA2-PSK, VLAN segmented</a:t>
            </a:r>
            <a:endParaRPr b="1" sz="1900">
              <a:solidFill>
                <a:srgbClr val="02C3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457200" y="4498848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Peter's &amp; Johnson's Tech  ·  Bräutigam Péter  ·  Cséplő János  |  Dombóvár, 2026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C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A0C4C8"/>
                </a:solidFill>
                <a:latin typeface="Calibri"/>
                <a:ea typeface="Calibri"/>
                <a:cs typeface="Calibri"/>
                <a:sym typeface="Calibri"/>
              </a:rPr>
              <a:t>Thank you for your attention — we are happy to answer any questions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