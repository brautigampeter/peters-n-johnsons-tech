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</p:sldIdLst>
  <p:sldSz cy="5143500" cx="9144000"/>
  <p:notesSz cx="51435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65FDDAF6-513D-43C1-9AA9-56DCD7278E64}">
  <a:tblStyle styleId="{65FDDAF6-513D-43C1-9AA9-56DCD7278E64}" styleName="Table_0">
    <a:wholeTbl>
      <a:tcTxStyle b="off" i="off">
        <a:font>
          <a:latin typeface="Arial"/>
          <a:ea typeface="Arial"/>
          <a:cs typeface="Arial"/>
        </a:font>
        <a:srgbClr val="000000"/>
      </a:tcTx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58" name="Google Shape;58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2" name="Google Shape;72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73" name="Google Shape;73;p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6" name="Google Shape;86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87" name="Google Shape;87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05" name="Google Shape;105;p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This campus hosts the web server and the Windows server; a firewall also belongs to this campus (not shown in the image)</a:t>
            </a:r>
            <a:endParaRPr/>
          </a:p>
        </p:txBody>
      </p:sp>
      <p:sp>
        <p:nvSpPr>
          <p:cNvPr id="115" name="Google Shape;115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This campus has a DNS server and the Linux server; a firewall also belongs here</a:t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This campus has a DNS server and a web server</a:t>
            </a:r>
            <a:endParaRPr/>
          </a:p>
        </p:txBody>
      </p:sp>
      <p:sp>
        <p:nvSpPr>
          <p:cNvPr id="133" name="Google Shape;133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8" name="Google Shape;168;p1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This is the HTML status page we set up on Linux, accessible via the Windows server</a:t>
            </a:r>
            <a:endParaRPr/>
          </a:p>
        </p:txBody>
      </p:sp>
      <p:sp>
        <p:nvSpPr>
          <p:cNvPr id="169" name="Google Shape;169;p1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b="1" lang="en-US" sz="1000"/>
              <a:t>OSPF: Open Shortest Path First (dynamic routing protocol, routes traffic via the shortest path). We tested over 100 items, 10 of which initially failed.</a:t>
            </a:r>
            <a:endParaRPr b="1" sz="1000"/>
          </a:p>
        </p:txBody>
      </p:sp>
      <p:sp>
        <p:nvSpPr>
          <p:cNvPr id="175" name="Google Shape;175;p1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7" name="Google Shape;187;p1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All ten failed tests were successfully fixed and documented in Jira </a:t>
            </a:r>
            <a:endParaRPr/>
          </a:p>
        </p:txBody>
      </p:sp>
      <p:sp>
        <p:nvSpPr>
          <p:cNvPr id="188" name="Google Shape;188;p12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3" name="Google Shape;193;p13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94" name="Google Shape;194;p13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02" name="Google Shape;202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03" name="Google Shape;203;p1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4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3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6" name="Google Shape;16;p3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7" name="Google Shape;17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20" name="Google Shape;20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3" name="Google Shape;23;p5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6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5" name="Google Shape;35;p8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6" name="Google Shape;36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9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9" name="Google Shape;39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0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" name="Google Shape;42;p10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43" name="Google Shape;43;p10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44" name="Google Shape;44;p10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5" name="Google Shape;45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11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8" name="Google Shape;48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2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51" name="Google Shape;51;p12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52" name="Google Shape;52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0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8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9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6.png"/><Relationship Id="rId7" Type="http://schemas.openxmlformats.org/officeDocument/2006/relationships/image" Target="../media/image5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1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png"/><Relationship Id="rId4" Type="http://schemas.openxmlformats.org/officeDocument/2006/relationships/image" Target="../media/image7.png"/><Relationship Id="rId5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4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5101A">
              <a:alpha val="81960"/>
            </a:srgbClr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" name="Google Shape;61;p14"/>
          <p:cNvSpPr/>
          <p:nvPr/>
        </p:nvSpPr>
        <p:spPr>
          <a:xfrm>
            <a:off x="0" y="4800000"/>
            <a:ext cx="9144000" cy="3435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" name="Google Shape;62;p14"/>
          <p:cNvSpPr/>
          <p:nvPr/>
        </p:nvSpPr>
        <p:spPr>
          <a:xfrm>
            <a:off x="0" y="0"/>
            <a:ext cx="9144000" cy="1200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" name="Google Shape;63;p14"/>
          <p:cNvSpPr/>
          <p:nvPr/>
        </p:nvSpPr>
        <p:spPr>
          <a:xfrm>
            <a:off x="457200" y="200000"/>
            <a:ext cx="8229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100">
                <a:solidFill>
                  <a:srgbClr val="AACFD0"/>
                </a:solidFill>
                <a:latin typeface="Calibri"/>
                <a:ea typeface="Calibri"/>
                <a:cs typeface="Calibri"/>
                <a:sym typeface="Calibri"/>
              </a:rPr>
              <a:t>Tolna Vármegyei SZC Apáczai Csere János Technikum</a:t>
            </a:r>
            <a:r>
              <a:rPr b="0" i="0" lang="en-US" sz="1100" u="none" cap="none" strike="noStrike">
                <a:solidFill>
                  <a:srgbClr val="AACFD0"/>
                </a:solidFill>
                <a:latin typeface="Calibri"/>
                <a:ea typeface="Calibri"/>
                <a:cs typeface="Calibri"/>
                <a:sym typeface="Calibri"/>
              </a:rPr>
              <a:t>  |  </a:t>
            </a:r>
            <a:r>
              <a:rPr lang="en-US" sz="1100">
                <a:solidFill>
                  <a:srgbClr val="AACFD0"/>
                </a:solidFill>
                <a:latin typeface="Calibri"/>
                <a:ea typeface="Calibri"/>
                <a:cs typeface="Calibri"/>
                <a:sym typeface="Calibri"/>
              </a:rPr>
              <a:t>Informatikai rendszer- és alkalmazás-üzemeltető technikus</a:t>
            </a:r>
            <a:r>
              <a:rPr b="0" i="0" lang="en-US" sz="1100" u="none" cap="none" strike="noStrike">
                <a:solidFill>
                  <a:srgbClr val="AACFD0"/>
                </a:solidFill>
                <a:latin typeface="Calibri"/>
                <a:ea typeface="Calibri"/>
                <a:cs typeface="Calibri"/>
                <a:sym typeface="Calibri"/>
              </a:rPr>
              <a:t>  |  2026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" name="Google Shape;64;p14"/>
          <p:cNvSpPr/>
          <p:nvPr/>
        </p:nvSpPr>
        <p:spPr>
          <a:xfrm>
            <a:off x="457200" y="950000"/>
            <a:ext cx="8229600" cy="15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Font typeface="Arial"/>
              <a:buNone/>
            </a:pPr>
            <a:r>
              <a:rPr b="1" i="0" lang="en-US" sz="5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Three-Campus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Font typeface="Arial"/>
              <a:buNone/>
            </a:pPr>
            <a:r>
              <a:rPr b="1" i="0" lang="en-US" sz="5200" u="none" cap="none" strike="noStrike">
                <a:solidFill>
                  <a:srgbClr val="02C39A"/>
                </a:solidFill>
                <a:latin typeface="Calibri"/>
                <a:ea typeface="Calibri"/>
                <a:cs typeface="Calibri"/>
                <a:sym typeface="Calibri"/>
              </a:rPr>
              <a:t>University Network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" name="Google Shape;65;p14"/>
          <p:cNvSpPr/>
          <p:nvPr/>
        </p:nvSpPr>
        <p:spPr>
          <a:xfrm>
            <a:off x="2857200" y="2730000"/>
            <a:ext cx="3429600" cy="600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" name="Google Shape;66;p14"/>
          <p:cNvSpPr/>
          <p:nvPr/>
        </p:nvSpPr>
        <p:spPr>
          <a:xfrm>
            <a:off x="457200" y="2840000"/>
            <a:ext cx="8229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C0E8EA"/>
                </a:solidFill>
                <a:latin typeface="Calibri"/>
                <a:ea typeface="Calibri"/>
                <a:cs typeface="Calibri"/>
                <a:sym typeface="Calibri"/>
              </a:rPr>
              <a:t>Design, Configuration and Documentation  |  Cisco Packet Tracer + VirtualBox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" name="Google Shape;67;p14"/>
          <p:cNvSpPr/>
          <p:nvPr/>
        </p:nvSpPr>
        <p:spPr>
          <a:xfrm>
            <a:off x="457200" y="3450000"/>
            <a:ext cx="8229600" cy="399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Peter's &amp; Johnson's Tech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" name="Google Shape;68;p14"/>
          <p:cNvSpPr/>
          <p:nvPr/>
        </p:nvSpPr>
        <p:spPr>
          <a:xfrm>
            <a:off x="457200" y="3870000"/>
            <a:ext cx="8229600" cy="38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AACFD0"/>
                </a:solidFill>
                <a:latin typeface="Calibri"/>
                <a:ea typeface="Calibri"/>
                <a:cs typeface="Calibri"/>
                <a:sym typeface="Calibri"/>
              </a:rPr>
              <a:t>Bräutigam Péter  |  Cséplő János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" name="Google Shape;69;p14"/>
          <p:cNvSpPr/>
          <p:nvPr/>
        </p:nvSpPr>
        <p:spPr>
          <a:xfrm>
            <a:off x="457200" y="4820000"/>
            <a:ext cx="8229600" cy="323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1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Vizsgaremek</a:t>
            </a:r>
            <a:r>
              <a:rPr b="0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 |  Dombóvár, 2026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8FAFC"/>
        </a:solidFill>
      </p:bgPr>
    </p:bg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5"/>
          <p:cNvSpPr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8090"/>
              </a:buClr>
              <a:buSzPts val="3600"/>
              <a:buFont typeface="Calibri"/>
              <a:buNone/>
            </a:pPr>
            <a:r>
              <a:rPr b="1" i="0" lang="en-US" sz="3600" u="none" cap="none" strike="noStrike">
                <a:solidFill>
                  <a:srgbClr val="028090"/>
                </a:solidFill>
                <a:latin typeface="Calibri"/>
                <a:ea typeface="Calibri"/>
                <a:cs typeface="Calibri"/>
                <a:sym typeface="Calibri"/>
              </a:rPr>
              <a:t>Team Members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" name="Google Shape;76;p15"/>
          <p:cNvSpPr/>
          <p:nvPr/>
        </p:nvSpPr>
        <p:spPr>
          <a:xfrm>
            <a:off x="457200" y="1097280"/>
            <a:ext cx="1828800" cy="4572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" name="Google Shape;77;p15"/>
          <p:cNvSpPr/>
          <p:nvPr/>
        </p:nvSpPr>
        <p:spPr>
          <a:xfrm>
            <a:off x="914400" y="1828800"/>
            <a:ext cx="7315200" cy="91440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00A89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" name="Google Shape;78;p15"/>
          <p:cNvSpPr/>
          <p:nvPr/>
        </p:nvSpPr>
        <p:spPr>
          <a:xfrm>
            <a:off x="914400" y="1828800"/>
            <a:ext cx="73152" cy="9144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" name="Google Shape;79;p15"/>
          <p:cNvSpPr/>
          <p:nvPr/>
        </p:nvSpPr>
        <p:spPr>
          <a:xfrm>
            <a:off x="1188720" y="2103120"/>
            <a:ext cx="68580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800"/>
              <a:buFont typeface="Calibri"/>
              <a:buNone/>
            </a:pPr>
            <a:r>
              <a:rPr b="1" i="0" lang="en-US" sz="18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Bräutigam Péter (PM)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Network Designer | Routing and Addressing Scheme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" name="Google Shape;80;p15"/>
          <p:cNvSpPr/>
          <p:nvPr/>
        </p:nvSpPr>
        <p:spPr>
          <a:xfrm>
            <a:off x="914400" y="3017520"/>
            <a:ext cx="7315200" cy="91440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00A89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" name="Google Shape;81;p15"/>
          <p:cNvSpPr/>
          <p:nvPr/>
        </p:nvSpPr>
        <p:spPr>
          <a:xfrm>
            <a:off x="914400" y="3017520"/>
            <a:ext cx="73152" cy="9144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" name="Google Shape;82;p15"/>
          <p:cNvSpPr/>
          <p:nvPr/>
        </p:nvSpPr>
        <p:spPr>
          <a:xfrm>
            <a:off x="1188720" y="3291840"/>
            <a:ext cx="68580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800"/>
              <a:buFont typeface="Calibri"/>
              <a:buNone/>
            </a:pPr>
            <a:r>
              <a:rPr b="1" i="0" lang="en-US" sz="18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Cséplő János Balázs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Configuration and Testing | Documentation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" name="Google Shape;83;p15"/>
          <p:cNvSpPr/>
          <p:nvPr/>
        </p:nvSpPr>
        <p:spPr>
          <a:xfrm>
            <a:off x="914400" y="4389120"/>
            <a:ext cx="73152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200"/>
              <a:buFont typeface="Calibri"/>
              <a:buNone/>
            </a:pPr>
            <a:r>
              <a:rPr b="0" i="1" lang="en-US" sz="120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Project Management: Agile/Scrum Methodology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8FAFC"/>
        </a:solidFill>
      </p:bgPr>
    </p:bg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16"/>
          <p:cNvSpPr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8090"/>
              </a:buClr>
              <a:buSzPts val="3600"/>
              <a:buFont typeface="Calibri"/>
              <a:buNone/>
            </a:pPr>
            <a:r>
              <a:rPr b="1" i="0" lang="en-US" sz="3600" u="none" cap="none" strike="noStrike">
                <a:solidFill>
                  <a:srgbClr val="028090"/>
                </a:solidFill>
                <a:latin typeface="Calibri"/>
                <a:ea typeface="Calibri"/>
                <a:cs typeface="Calibri"/>
                <a:sym typeface="Calibri"/>
              </a:rPr>
              <a:t>Project Overview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" name="Google Shape;90;p16"/>
          <p:cNvSpPr/>
          <p:nvPr/>
        </p:nvSpPr>
        <p:spPr>
          <a:xfrm>
            <a:off x="457200" y="1097280"/>
            <a:ext cx="1828800" cy="4572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" name="Google Shape;91;p16"/>
          <p:cNvSpPr/>
          <p:nvPr/>
        </p:nvSpPr>
        <p:spPr>
          <a:xfrm>
            <a:off x="731520" y="1645920"/>
            <a:ext cx="3840480" cy="182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800"/>
              <a:buFont typeface="Calibri"/>
              <a:buNone/>
            </a:pPr>
            <a:r>
              <a:rPr b="1" i="0" lang="en-US" sz="18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Project Goal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"/>
              <a:buFont typeface="Calibri"/>
              <a:buNone/>
            </a:pPr>
            <a:r>
              <a:rPr b="0" i="0" lang="en-US" sz="4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Designing, implementing and testing a three-campus university network that ensures reliable and scalable connectivity between campuses with redundant topology, secure VLAN segmentation and dual-stack (IPv4/IPv6) addressing.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16"/>
          <p:cNvSpPr/>
          <p:nvPr/>
        </p:nvSpPr>
        <p:spPr>
          <a:xfrm>
            <a:off x="5029200" y="1244295"/>
            <a:ext cx="36576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8090"/>
              </a:buClr>
              <a:buSzPts val="1600"/>
              <a:buFont typeface="Calibri"/>
              <a:buNone/>
            </a:pPr>
            <a:r>
              <a:rPr b="1" i="0" lang="en-US" sz="1600" u="none" cap="none" strike="noStrike">
                <a:solidFill>
                  <a:srgbClr val="028090"/>
                </a:solidFill>
                <a:latin typeface="Calibri"/>
                <a:ea typeface="Calibri"/>
                <a:cs typeface="Calibri"/>
                <a:sym typeface="Calibri"/>
              </a:rPr>
              <a:t>Campuses Involved: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" name="Google Shape;93;p16"/>
          <p:cNvSpPr/>
          <p:nvPr/>
        </p:nvSpPr>
        <p:spPr>
          <a:xfrm>
            <a:off x="5029200" y="1733445"/>
            <a:ext cx="3657600" cy="228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400"/>
              <a:buFont typeface="Calibri"/>
              <a:buChar char="•"/>
            </a:pPr>
            <a:r>
              <a:rPr b="0" i="0" lang="en-US" sz="140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Main Campus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Main campus - central administration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"/>
              <a:buFont typeface="Calibri"/>
              <a:buNone/>
            </a:pPr>
            <a:r>
              <a:rPr b="0" i="0" lang="en-US" sz="4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400"/>
              <a:buFont typeface="Calibri"/>
              <a:buChar char="•"/>
            </a:pPr>
            <a:r>
              <a:rPr b="0" i="0" lang="en-US" sz="140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Engineering Campus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Engineering campus - technical labs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"/>
              <a:buFont typeface="Calibri"/>
              <a:buNone/>
            </a:pPr>
            <a:r>
              <a:rPr b="0" i="0" lang="en-US" sz="4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400"/>
              <a:buFont typeface="Calibri"/>
              <a:buChar char="•"/>
            </a:pPr>
            <a:r>
              <a:rPr b="0" i="0" lang="en-US" sz="140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Business Campus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Business campus - economics faculty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16"/>
          <p:cNvSpPr/>
          <p:nvPr/>
        </p:nvSpPr>
        <p:spPr>
          <a:xfrm>
            <a:off x="731520" y="3840480"/>
            <a:ext cx="1828800" cy="548640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" name="Google Shape;95;p16"/>
          <p:cNvSpPr/>
          <p:nvPr/>
        </p:nvSpPr>
        <p:spPr>
          <a:xfrm>
            <a:off x="731520" y="3840480"/>
            <a:ext cx="18288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Full-mesh topology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" name="Google Shape;96;p16"/>
          <p:cNvSpPr/>
          <p:nvPr/>
        </p:nvSpPr>
        <p:spPr>
          <a:xfrm>
            <a:off x="2743200" y="3840480"/>
            <a:ext cx="1828800" cy="548640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" name="Google Shape;97;p16"/>
          <p:cNvSpPr/>
          <p:nvPr/>
        </p:nvSpPr>
        <p:spPr>
          <a:xfrm>
            <a:off x="2743200" y="3840480"/>
            <a:ext cx="18288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IPv4/IPv6 dual-stack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" name="Google Shape;98;p16"/>
          <p:cNvSpPr/>
          <p:nvPr/>
        </p:nvSpPr>
        <p:spPr>
          <a:xfrm>
            <a:off x="4754880" y="3840480"/>
            <a:ext cx="1828800" cy="548640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" name="Google Shape;99;p16"/>
          <p:cNvSpPr/>
          <p:nvPr/>
        </p:nvSpPr>
        <p:spPr>
          <a:xfrm>
            <a:off x="4754880" y="3840480"/>
            <a:ext cx="18288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VLAN segmentation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" name="Google Shape;100;p16"/>
          <p:cNvSpPr/>
          <p:nvPr/>
        </p:nvSpPr>
        <p:spPr>
          <a:xfrm>
            <a:off x="6766560" y="3840480"/>
            <a:ext cx="1828800" cy="548640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" name="Google Shape;101;p16"/>
          <p:cNvSpPr/>
          <p:nvPr/>
        </p:nvSpPr>
        <p:spPr>
          <a:xfrm>
            <a:off x="6766560" y="3840480"/>
            <a:ext cx="18288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Redundancy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8FAFC"/>
        </a:solidFill>
      </p:bgPr>
    </p:bg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7"/>
          <p:cNvSpPr/>
          <p:nvPr/>
        </p:nvSpPr>
        <p:spPr>
          <a:xfrm>
            <a:off x="457200" y="729961"/>
            <a:ext cx="8229600" cy="54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8090"/>
              </a:buClr>
              <a:buSzPts val="3600"/>
              <a:buFont typeface="Calibri"/>
              <a:buNone/>
            </a:pPr>
            <a:r>
              <a:rPr b="1" i="0" lang="en-US" sz="4000" u="none" cap="none" strike="noStrike">
                <a:solidFill>
                  <a:srgbClr val="028090"/>
                </a:solidFill>
                <a:latin typeface="Calibri"/>
                <a:ea typeface="Calibri"/>
                <a:cs typeface="Calibri"/>
                <a:sym typeface="Calibri"/>
              </a:rPr>
              <a:t>Simulation Software Used</a:t>
            </a:r>
            <a:endParaRPr b="0" i="0" sz="4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" name="Google Shape;108;p17"/>
          <p:cNvSpPr/>
          <p:nvPr/>
        </p:nvSpPr>
        <p:spPr>
          <a:xfrm>
            <a:off x="457200" y="1370041"/>
            <a:ext cx="2286000" cy="456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9" name="Google Shape;109;p17"/>
          <p:cNvSpPr/>
          <p:nvPr/>
        </p:nvSpPr>
        <p:spPr>
          <a:xfrm>
            <a:off x="731520" y="2214822"/>
            <a:ext cx="7955400" cy="1097400"/>
          </a:xfrm>
          <a:prstGeom prst="rect">
            <a:avLst/>
          </a:prstGeom>
          <a:solidFill>
            <a:srgbClr val="FFFFFF"/>
          </a:solidFill>
          <a:ln cap="flat" cmpd="sng" w="25400">
            <a:solidFill>
              <a:srgbClr val="02809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0" name="Google Shape;110;p17"/>
          <p:cNvSpPr/>
          <p:nvPr/>
        </p:nvSpPr>
        <p:spPr>
          <a:xfrm>
            <a:off x="731520" y="2214822"/>
            <a:ext cx="91500" cy="10974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1" name="Google Shape;111;p17"/>
          <p:cNvSpPr/>
          <p:nvPr/>
        </p:nvSpPr>
        <p:spPr>
          <a:xfrm>
            <a:off x="1005840" y="2489142"/>
            <a:ext cx="7498200" cy="64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8090"/>
              </a:buClr>
              <a:buSzPts val="1600"/>
              <a:buFont typeface="Calibri"/>
              <a:buNone/>
            </a:pPr>
            <a:r>
              <a:rPr b="1" i="0" lang="en-US" sz="2000" u="none" cap="none" strike="noStrike">
                <a:solidFill>
                  <a:srgbClr val="028090"/>
                </a:solidFill>
                <a:latin typeface="Calibri"/>
                <a:ea typeface="Calibri"/>
                <a:cs typeface="Calibri"/>
                <a:sym typeface="Calibri"/>
              </a:rPr>
              <a:t>Cisco Packet Tracer Project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Version: Packet Tracer 9.0.0 | Full functional simulation with all routing, VLAN, DHCP, wireless and server configurations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" name="Google Shape;112;p17"/>
          <p:cNvSpPr txBox="1"/>
          <p:nvPr/>
        </p:nvSpPr>
        <p:spPr>
          <a:xfrm>
            <a:off x="942425" y="3071950"/>
            <a:ext cx="1503600" cy="117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8FAFC"/>
        </a:solidFill>
      </p:bgPr>
    </p:bg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8"/>
          <p:cNvSpPr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b="1" i="0" lang="en-US" sz="4000" u="none" cap="none" strike="noStrike">
                <a:solidFill>
                  <a:srgbClr val="028090"/>
                </a:solidFill>
                <a:latin typeface="Calibri"/>
                <a:ea typeface="Calibri"/>
                <a:cs typeface="Calibri"/>
                <a:sym typeface="Calibri"/>
              </a:rPr>
              <a:t>Main Campus</a:t>
            </a:r>
            <a:endParaRPr b="0" i="0" sz="4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8" name="Google Shape;118;p18"/>
          <p:cNvSpPr/>
          <p:nvPr/>
        </p:nvSpPr>
        <p:spPr>
          <a:xfrm>
            <a:off x="5303520" y="1095595"/>
            <a:ext cx="3840600" cy="457200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18"/>
          <p:cNvSpPr/>
          <p:nvPr/>
        </p:nvSpPr>
        <p:spPr>
          <a:xfrm>
            <a:off x="5303520" y="1095595"/>
            <a:ext cx="3840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Campus Characteristics</a:t>
            </a:r>
            <a:endParaRPr b="1" i="0" sz="14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18"/>
          <p:cNvSpPr/>
          <p:nvPr/>
        </p:nvSpPr>
        <p:spPr>
          <a:xfrm>
            <a:off x="5486525" y="1683845"/>
            <a:ext cx="3474600" cy="3500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028090"/>
                </a:solidFill>
                <a:latin typeface="Arial"/>
                <a:ea typeface="Arial"/>
                <a:cs typeface="Arial"/>
                <a:sym typeface="Arial"/>
              </a:rPr>
              <a:t>Purpose and Role</a:t>
            </a:r>
            <a:endParaRPr b="1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68288" lvl="0" marL="27463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100"/>
              <a:buFont typeface="Arial"/>
              <a:buChar char="‣"/>
            </a:pPr>
            <a:r>
              <a:rPr b="1" i="0" lang="en-US" sz="100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Central administration and IT infrastructure</a:t>
            </a:r>
            <a:endParaRPr b="1" i="0" sz="1300" u="none" cap="none" strike="noStrike">
              <a:solidFill>
                <a:srgbClr val="334155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68288" lvl="0" marL="27463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100"/>
              <a:buFont typeface="Arial"/>
              <a:buChar char="‣"/>
            </a:pPr>
            <a:r>
              <a:rPr b="1" i="0" lang="en-US" sz="100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IP range: 150.111.64.0/19</a:t>
            </a:r>
            <a:endParaRPr b="1" i="0" sz="1300" u="none" cap="none" strike="noStrike">
              <a:solidFill>
                <a:srgbClr val="334155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2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028090"/>
                </a:solidFill>
                <a:latin typeface="Arial"/>
                <a:ea typeface="Arial"/>
                <a:cs typeface="Arial"/>
                <a:sym typeface="Arial"/>
              </a:rPr>
              <a:t>Servers</a:t>
            </a:r>
            <a:endParaRPr b="1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68288" lvl="0" marL="27463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100"/>
              <a:buFont typeface="Arial"/>
              <a:buChar char="‣"/>
            </a:pPr>
            <a:r>
              <a:rPr b="1" i="0" lang="en-US" sz="100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MAIN-WINSRV01 (Win Server 2019): AD, DNS, DHCP, File, Print, GPO</a:t>
            </a:r>
            <a:endParaRPr b="1" i="0" sz="1300" u="none" cap="none" strike="noStrike">
              <a:solidFill>
                <a:srgbClr val="334155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74638" lvl="0" marL="27463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‣"/>
            </a:pPr>
            <a:r>
              <a:rPr b="1" i="0" lang="en-US" sz="100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Web Server (HTTP/HTTPS)</a:t>
            </a:r>
            <a:r>
              <a:rPr b="1" i="0" lang="en-US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1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2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028090"/>
                </a:solidFill>
                <a:latin typeface="Arial"/>
                <a:ea typeface="Arial"/>
                <a:cs typeface="Arial"/>
                <a:sym typeface="Arial"/>
              </a:rPr>
              <a:t>Security</a:t>
            </a:r>
            <a:endParaRPr b="1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68288" lvl="0" marL="27463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100"/>
              <a:buFont typeface="Arial"/>
              <a:buChar char="‣"/>
            </a:pPr>
            <a:r>
              <a:rPr b="1" i="0" lang="en-US" sz="100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ASA Firewall + NAT/PAT traffic inspection</a:t>
            </a:r>
            <a:endParaRPr b="1" i="0" sz="1300" u="none" cap="none" strike="noStrike">
              <a:solidFill>
                <a:srgbClr val="334155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68288" lvl="0" marL="27463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100"/>
              <a:buFont typeface="Arial"/>
              <a:buChar char="‣"/>
            </a:pPr>
            <a:r>
              <a:rPr b="1" i="0" lang="en-US" sz="100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VLAN segmentation, ACLs, port security, DHCP snooping</a:t>
            </a:r>
            <a:endParaRPr b="1" i="0" sz="1300" u="none" cap="none" strike="noStrike">
              <a:solidFill>
                <a:srgbClr val="334155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2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028090"/>
                </a:solidFill>
                <a:latin typeface="Arial"/>
                <a:ea typeface="Arial"/>
                <a:cs typeface="Arial"/>
                <a:sym typeface="Arial"/>
              </a:rPr>
              <a:t>Routing and Redundancy</a:t>
            </a:r>
            <a:endParaRPr b="1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68288" lvl="0" marL="27463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100"/>
              <a:buFont typeface="Arial"/>
              <a:buChar char="‣"/>
            </a:pPr>
            <a:r>
              <a:rPr b="1" i="0" lang="en-US" sz="100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OSPF/OSPFv3, full-mesh internal topology</a:t>
            </a:r>
            <a:endParaRPr b="1" i="0" sz="1300" u="none" cap="none" strike="noStrike">
              <a:solidFill>
                <a:srgbClr val="334155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68288" lvl="0" marL="27463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100"/>
              <a:buFont typeface="Arial"/>
              <a:buChar char="‣"/>
            </a:pPr>
            <a:r>
              <a:rPr b="1" i="0" lang="en-US" sz="100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Static inter-campus routes, EtherChannel L2 redundancy</a:t>
            </a:r>
            <a:endParaRPr b="1" i="0" sz="1300" u="none" cap="none" strike="noStrike">
              <a:solidFill>
                <a:srgbClr val="3341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1095602"/>
            <a:ext cx="5303525" cy="404789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8FAFC"/>
        </a:solidFill>
      </p:bgPr>
    </p:bg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9"/>
          <p:cNvSpPr/>
          <p:nvPr/>
        </p:nvSpPr>
        <p:spPr>
          <a:xfrm>
            <a:off x="457200" y="462350"/>
            <a:ext cx="8229600" cy="54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4000" u="none" cap="none" strike="noStrike">
                <a:solidFill>
                  <a:srgbClr val="028090"/>
                </a:solidFill>
                <a:latin typeface="Calibri"/>
                <a:ea typeface="Calibri"/>
                <a:cs typeface="Calibri"/>
                <a:sym typeface="Calibri"/>
              </a:rPr>
              <a:t>Engineering Campu</a:t>
            </a:r>
            <a:r>
              <a:rPr b="1" i="0" lang="en-US" sz="3600" u="none" cap="none" strike="noStrike">
                <a:solidFill>
                  <a:srgbClr val="028090"/>
                </a:solidFill>
                <a:latin typeface="Calibri"/>
                <a:ea typeface="Calibri"/>
                <a:cs typeface="Calibri"/>
                <a:sym typeface="Calibri"/>
              </a:rPr>
              <a:t>s </a:t>
            </a:r>
            <a:endParaRPr b="0" i="0" sz="3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7" name="Google Shape;127;p19"/>
          <p:cNvSpPr/>
          <p:nvPr/>
        </p:nvSpPr>
        <p:spPr>
          <a:xfrm>
            <a:off x="5303395" y="1175533"/>
            <a:ext cx="3840600" cy="457200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8" name="Google Shape;128;p19"/>
          <p:cNvSpPr/>
          <p:nvPr/>
        </p:nvSpPr>
        <p:spPr>
          <a:xfrm>
            <a:off x="5303395" y="1175520"/>
            <a:ext cx="3840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Campus Characteristics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9" name="Google Shape;129;p19"/>
          <p:cNvSpPr/>
          <p:nvPr/>
        </p:nvSpPr>
        <p:spPr>
          <a:xfrm>
            <a:off x="5486388" y="1632720"/>
            <a:ext cx="3474600" cy="36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028090"/>
                </a:solidFill>
                <a:latin typeface="Arial"/>
                <a:ea typeface="Arial"/>
                <a:cs typeface="Arial"/>
                <a:sym typeface="Arial"/>
              </a:rPr>
              <a:t>Purpose and Role</a:t>
            </a:r>
            <a:endParaRPr b="1" i="0" sz="1400" u="none" cap="none" strike="noStrike">
              <a:solidFill>
                <a:srgbClr val="02809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68288" lvl="0" marL="27463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100"/>
              <a:buFont typeface="Arial"/>
              <a:buChar char="‣"/>
            </a:pPr>
            <a:r>
              <a:rPr b="1" i="0" lang="en-US" sz="100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Engineering labs, research and technical infrastructure</a:t>
            </a:r>
            <a:endParaRPr b="1" i="0" sz="1300" u="none" cap="none" strike="noStrike">
              <a:solidFill>
                <a:srgbClr val="334155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68288" lvl="0" marL="27463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100"/>
              <a:buFont typeface="Arial"/>
              <a:buChar char="‣"/>
            </a:pPr>
            <a:r>
              <a:rPr b="1" i="0" lang="en-US" sz="100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IP range: 150.111.80.0/20</a:t>
            </a:r>
            <a:endParaRPr b="1" i="0" sz="1300" u="none" cap="none" strike="noStrike">
              <a:solidFill>
                <a:srgbClr val="334155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2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028090"/>
                </a:solidFill>
                <a:latin typeface="Arial"/>
                <a:ea typeface="Arial"/>
                <a:cs typeface="Arial"/>
                <a:sym typeface="Arial"/>
              </a:rPr>
              <a:t>Servers</a:t>
            </a:r>
            <a:endParaRPr b="1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68288" lvl="0" marL="27463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100"/>
              <a:buFont typeface="Arial"/>
              <a:buChar char="‣"/>
            </a:pPr>
            <a:r>
              <a:rPr b="1" i="0" lang="en-US" sz="100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ENG-LINSRV01 (Debian 13): Apache2 web, rsync backup (daily at 02:00)</a:t>
            </a:r>
            <a:endParaRPr b="1" i="0" sz="1300" u="none" cap="none" strike="noStrike">
              <a:solidFill>
                <a:srgbClr val="334155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68288" lvl="0" marL="27463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100"/>
              <a:buFont typeface="Arial"/>
              <a:buChar char="‣"/>
            </a:pPr>
            <a:r>
              <a:rPr b="1" i="0" lang="en-US" sz="100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DNS server for local name resolution</a:t>
            </a:r>
            <a:endParaRPr b="1" i="0" sz="1300" u="none" cap="none" strike="noStrike">
              <a:solidFill>
                <a:srgbClr val="334155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2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028090"/>
                </a:solidFill>
                <a:latin typeface="Arial"/>
                <a:ea typeface="Arial"/>
                <a:cs typeface="Arial"/>
                <a:sym typeface="Arial"/>
              </a:rPr>
              <a:t>Security</a:t>
            </a:r>
            <a:endParaRPr b="1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68288" lvl="0" marL="27463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100"/>
              <a:buFont typeface="Arial"/>
              <a:buChar char="‣"/>
            </a:pPr>
            <a:r>
              <a:rPr b="1" i="0" lang="en-US" sz="100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ASA Firewall, WPA2-PSK wireless, VLAN segmentation, ACLs</a:t>
            </a:r>
            <a:endParaRPr b="1" i="0" sz="1300" u="none" cap="none" strike="noStrike">
              <a:solidFill>
                <a:srgbClr val="334155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68288" lvl="0" marL="27463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100"/>
              <a:buFont typeface="Arial"/>
              <a:buChar char="‣"/>
            </a:pPr>
            <a:r>
              <a:rPr b="1" i="0" lang="en-US" sz="100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IPSec Site-to-Site VPN (towards Business Campus)</a:t>
            </a:r>
            <a:endParaRPr b="1" i="0" sz="1300" u="none" cap="none" strike="noStrike">
              <a:solidFill>
                <a:srgbClr val="334155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2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028090"/>
                </a:solidFill>
                <a:latin typeface="Arial"/>
                <a:ea typeface="Arial"/>
                <a:cs typeface="Arial"/>
                <a:sym typeface="Arial"/>
              </a:rPr>
              <a:t>Routing and Redundancy</a:t>
            </a:r>
            <a:endParaRPr b="1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68288" lvl="0" marL="27463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100"/>
              <a:buFont typeface="Arial"/>
              <a:buChar char="‣"/>
            </a:pPr>
            <a:r>
              <a:rPr b="1" i="0" lang="en-US" sz="100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OSPF/OSPFv3, full-mesh, EtherChannel L2 redundancy</a:t>
            </a:r>
            <a:endParaRPr b="1" i="0" sz="1300" u="none" cap="none" strike="noStrike">
              <a:solidFill>
                <a:srgbClr val="334155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68288" lvl="0" marL="27463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100"/>
              <a:buFont typeface="Arial"/>
              <a:buChar char="‣"/>
            </a:pPr>
            <a:r>
              <a:rPr b="1" i="0" lang="en-US" sz="100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Static inter-campus routes, auto-rerouting on link failure</a:t>
            </a:r>
            <a:endParaRPr b="1" i="0" sz="1300" u="none" cap="none" strike="noStrike">
              <a:solidFill>
                <a:srgbClr val="3341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30" name="Google Shape;130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1175525"/>
            <a:ext cx="5321624" cy="39679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8FAFC"/>
        </a:solidFill>
      </p:bgPr>
    </p:bg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0"/>
          <p:cNvSpPr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4000" u="none" cap="none" strike="noStrike">
                <a:solidFill>
                  <a:srgbClr val="028090"/>
                </a:solidFill>
                <a:latin typeface="Calibri"/>
                <a:ea typeface="Calibri"/>
                <a:cs typeface="Calibri"/>
                <a:sym typeface="Calibri"/>
              </a:rPr>
              <a:t>Business Campus</a:t>
            </a:r>
            <a:endParaRPr b="0" i="0" sz="4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6" name="Google Shape;136;p20"/>
          <p:cNvSpPr/>
          <p:nvPr/>
        </p:nvSpPr>
        <p:spPr>
          <a:xfrm>
            <a:off x="5303583" y="957620"/>
            <a:ext cx="3840600" cy="457200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7" name="Google Shape;137;p20"/>
          <p:cNvSpPr/>
          <p:nvPr/>
        </p:nvSpPr>
        <p:spPr>
          <a:xfrm>
            <a:off x="5303570" y="957620"/>
            <a:ext cx="3840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Campus Characteristics</a:t>
            </a:r>
            <a:endParaRPr b="1" i="0" sz="14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20"/>
          <p:cNvSpPr/>
          <p:nvPr/>
        </p:nvSpPr>
        <p:spPr>
          <a:xfrm>
            <a:off x="5486575" y="1540745"/>
            <a:ext cx="3474600" cy="3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028090"/>
                </a:solidFill>
                <a:latin typeface="Arial"/>
                <a:ea typeface="Arial"/>
                <a:cs typeface="Arial"/>
                <a:sym typeface="Arial"/>
              </a:rPr>
              <a:t>Purpose and Role</a:t>
            </a:r>
            <a:endParaRPr b="1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68288" lvl="0" marL="27463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8090"/>
              </a:buClr>
              <a:buSzPts val="1100"/>
              <a:buFont typeface="Arial"/>
              <a:buChar char="‣"/>
            </a:pPr>
            <a:r>
              <a:rPr b="1" i="0" lang="en-US" sz="100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Economics faculty and business administration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68288" lvl="0" marL="27463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8090"/>
              </a:buClr>
              <a:buSzPts val="1100"/>
              <a:buFont typeface="Arial"/>
              <a:buChar char="‣"/>
            </a:pPr>
            <a:r>
              <a:rPr b="1" i="0" lang="en-US" sz="100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IP range: 150.111.96.0/20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2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028090"/>
                </a:solidFill>
                <a:latin typeface="Arial"/>
                <a:ea typeface="Arial"/>
                <a:cs typeface="Arial"/>
                <a:sym typeface="Arial"/>
              </a:rPr>
              <a:t>Servers</a:t>
            </a:r>
            <a:endParaRPr b="1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68288" lvl="0" marL="27463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8090"/>
              </a:buClr>
              <a:buSzPts val="1100"/>
              <a:buFont typeface="Arial"/>
              <a:buChar char="‣"/>
            </a:pPr>
            <a:r>
              <a:rPr b="1" i="0" lang="en-US" sz="100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DNS server for local name resolution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68288" lvl="0" marL="27463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8090"/>
              </a:buClr>
              <a:buSzPts val="1100"/>
              <a:buFont typeface="Arial"/>
              <a:buChar char="‣"/>
            </a:pPr>
            <a:r>
              <a:rPr b="1" i="0" lang="en-US" sz="100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Web Server (HTTP/HTTPS) for internal campus services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2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028090"/>
                </a:solidFill>
                <a:latin typeface="Arial"/>
                <a:ea typeface="Arial"/>
                <a:cs typeface="Arial"/>
                <a:sym typeface="Arial"/>
              </a:rPr>
              <a:t>Security</a:t>
            </a:r>
            <a:endParaRPr b="1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68288" lvl="0" marL="27463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8090"/>
              </a:buClr>
              <a:buSzPts val="1100"/>
              <a:buFont typeface="Arial"/>
              <a:buChar char="‣"/>
            </a:pPr>
            <a:r>
              <a:rPr b="1" i="0" lang="en-US" sz="100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ASA Firewall, VLAN segmentation, ACLs, port security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68288" lvl="0" marL="27463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8090"/>
              </a:buClr>
              <a:buSzPts val="1100"/>
              <a:buFont typeface="Arial"/>
              <a:buChar char="‣"/>
            </a:pPr>
            <a:r>
              <a:rPr b="1" i="0" lang="en-US" sz="100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IPSec Site-to-Site VPN (towards Engineering Campus)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2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028090"/>
                </a:solidFill>
                <a:latin typeface="Arial"/>
                <a:ea typeface="Arial"/>
                <a:cs typeface="Arial"/>
                <a:sym typeface="Arial"/>
              </a:rPr>
              <a:t>Routing and Redundancy</a:t>
            </a:r>
            <a:endParaRPr b="1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68288" lvl="0" marL="27463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8090"/>
              </a:buClr>
              <a:buSzPts val="1100"/>
              <a:buFont typeface="Arial"/>
              <a:buChar char="‣"/>
            </a:pPr>
            <a:r>
              <a:rPr b="1" i="0" lang="en-US" sz="100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OSPF/OSPFv3, full-mesh, EtherChannel L2 redundancy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68288" lvl="0" marL="27463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8090"/>
              </a:buClr>
              <a:buSzPts val="1100"/>
              <a:buFont typeface="Arial"/>
              <a:buChar char="‣"/>
            </a:pPr>
            <a:r>
              <a:rPr b="1" i="0" lang="en-US" sz="100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Static inter-campus routes, STP Spanning Tree Protocol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39" name="Google Shape;139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1176761"/>
            <a:ext cx="5303576" cy="360273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8FAFC"/>
        </a:solidFill>
      </p:bgPr>
    </p:bg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8090"/>
              </a:buClr>
              <a:buSzPts val="3600"/>
              <a:buFont typeface="Calibri"/>
              <a:buNone/>
            </a:pPr>
            <a:r>
              <a:rPr b="1" i="0" lang="en-US" sz="3600" u="none" cap="none" strike="noStrike">
                <a:solidFill>
                  <a:srgbClr val="028090"/>
                </a:solidFill>
                <a:latin typeface="Calibri"/>
                <a:ea typeface="Calibri"/>
                <a:cs typeface="Calibri"/>
                <a:sym typeface="Calibri"/>
              </a:rPr>
              <a:t>IP Addressing and VLAN Segmentation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" name="Google Shape;146;p21"/>
          <p:cNvSpPr/>
          <p:nvPr/>
        </p:nvSpPr>
        <p:spPr>
          <a:xfrm>
            <a:off x="457200" y="1097280"/>
            <a:ext cx="3200400" cy="4572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147" name="Google Shape;147;p21"/>
          <p:cNvGraphicFramePr/>
          <p:nvPr/>
        </p:nvGraphicFramePr>
        <p:xfrm>
          <a:off x="731520" y="164592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{65FDDAF6-513D-43C1-9AA9-56DCD7278E64}</a:tableStyleId>
              </a:tblPr>
              <a:tblGrid>
                <a:gridCol w="731525"/>
                <a:gridCol w="1645925"/>
                <a:gridCol w="1737350"/>
              </a:tblGrid>
              <a:tr h="3657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200"/>
                        <a:buFont typeface="Calibri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</a:rPr>
                        <a:t>VLAN</a:t>
                      </a:r>
                      <a:endParaRPr sz="1200" u="none" cap="none" strike="noStrike"/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00A89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A89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A89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A89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200"/>
                        <a:buFont typeface="Calibri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</a:rPr>
                        <a:t>Name</a:t>
                      </a:r>
                      <a:endParaRPr sz="1200" u="none" cap="none" strike="noStrike"/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00A89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A89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A89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A89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200"/>
                        <a:buFont typeface="Calibri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</a:rPr>
                        <a:t>Subnet</a:t>
                      </a:r>
                      <a:endParaRPr sz="1200" u="none" cap="none" strike="noStrike"/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00A89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A89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A89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A89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28090"/>
                    </a:solidFill>
                  </a:tcPr>
                </a:tc>
              </a:tr>
              <a:tr h="3657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4155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334155"/>
                          </a:solidFill>
                        </a:rPr>
                        <a:t>10</a:t>
                      </a:r>
                      <a:endParaRPr sz="1100" u="none" cap="none" strike="noStrike"/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00A89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A89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A89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A89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4155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334155"/>
                          </a:solidFill>
                        </a:rPr>
                        <a:t>Students</a:t>
                      </a:r>
                      <a:endParaRPr sz="1100" u="none" cap="none" strike="noStrike">
                        <a:solidFill>
                          <a:srgbClr val="334155"/>
                        </a:solidFill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00A89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A89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A89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A89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4155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334155"/>
                          </a:solidFill>
                        </a:rPr>
                        <a:t>/22 (~1000 host)</a:t>
                      </a:r>
                      <a:endParaRPr sz="1100" u="none" cap="none" strike="noStrike"/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00A89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A89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A89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A89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3657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4155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334155"/>
                          </a:solidFill>
                        </a:rPr>
                        <a:t>20</a:t>
                      </a:r>
                      <a:endParaRPr sz="1100" u="none" cap="none" strike="noStrike"/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00A89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A89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A89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A89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4155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334155"/>
                          </a:solidFill>
                        </a:rPr>
                        <a:t>Faculty/Staff</a:t>
                      </a:r>
                      <a:endParaRPr sz="1100" u="none" cap="none" strike="noStrike"/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00A89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A89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A89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A89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4155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334155"/>
                          </a:solidFill>
                        </a:rPr>
                        <a:t>/23 (~500 host)</a:t>
                      </a:r>
                      <a:endParaRPr sz="1100" u="none" cap="none" strike="noStrike"/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00A89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A89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A89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A89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3657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4155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334155"/>
                          </a:solidFill>
                        </a:rPr>
                        <a:t>30</a:t>
                      </a:r>
                      <a:endParaRPr sz="1100" u="none" cap="none" strike="noStrike"/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00A89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A89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A89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A89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4155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334155"/>
                          </a:solidFill>
                        </a:rPr>
                        <a:t>Classrooms </a:t>
                      </a:r>
                      <a:endParaRPr sz="1100" u="none" cap="none" strike="noStrike"/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00A89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A89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A89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A89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4155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334155"/>
                          </a:solidFill>
                        </a:rPr>
                        <a:t>/24 (~250 host)</a:t>
                      </a:r>
                      <a:endParaRPr sz="1100" u="none" cap="none" strike="noStrike"/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00A89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A89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A89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A89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3657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4155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334155"/>
                          </a:solidFill>
                        </a:rPr>
                        <a:t>40</a:t>
                      </a:r>
                      <a:endParaRPr sz="1100" u="none" cap="none" strike="noStrike"/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00A89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A89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A89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A89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4155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334155"/>
                          </a:solidFill>
                        </a:rPr>
                        <a:t>Servers</a:t>
                      </a:r>
                      <a:endParaRPr sz="1100" u="none" cap="none" strike="noStrike"/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00A89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A89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A89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A89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4155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334155"/>
                          </a:solidFill>
                        </a:rPr>
                        <a:t>/24 (~250 host)</a:t>
                      </a:r>
                      <a:endParaRPr sz="1100" u="none" cap="none" strike="noStrike"/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00A89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A89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A89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A89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3657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4155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334155"/>
                          </a:solidFill>
                        </a:rPr>
                        <a:t>50</a:t>
                      </a:r>
                      <a:endParaRPr sz="1100" u="none" cap="none" strike="noStrike"/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00A89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A89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A89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A89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4155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334155"/>
                          </a:solidFill>
                        </a:rPr>
                        <a:t>Wireless</a:t>
                      </a:r>
                      <a:endParaRPr sz="1100" u="none" cap="none" strike="noStrike"/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00A89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A89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A89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A89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4155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334155"/>
                          </a:solidFill>
                        </a:rPr>
                        <a:t>/26 (~60 host)</a:t>
                      </a:r>
                      <a:endParaRPr sz="1100" u="none" cap="none" strike="noStrike"/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00A89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A89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A89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A89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3657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4155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334155"/>
                          </a:solidFill>
                        </a:rPr>
                        <a:t>60</a:t>
                      </a:r>
                      <a:endParaRPr sz="1100" u="none" cap="none" strike="noStrike"/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00A89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A89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A89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A89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4155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334155"/>
                          </a:solidFill>
                        </a:rPr>
                        <a:t>Printers</a:t>
                      </a:r>
                      <a:endParaRPr sz="1100" u="none" cap="none" strike="noStrike">
                        <a:solidFill>
                          <a:srgbClr val="334155"/>
                        </a:solidFill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00A89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A89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A89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A89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4155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334155"/>
                          </a:solidFill>
                        </a:rPr>
                        <a:t>/28 (~14 host)</a:t>
                      </a:r>
                      <a:endParaRPr sz="1100" u="none" cap="none" strike="noStrike"/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00A89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A89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A89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A89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8" name="Google Shape;148;p21"/>
          <p:cNvSpPr/>
          <p:nvPr/>
        </p:nvSpPr>
        <p:spPr>
          <a:xfrm>
            <a:off x="5120640" y="1645920"/>
            <a:ext cx="3566160" cy="2743200"/>
          </a:xfrm>
          <a:prstGeom prst="rect">
            <a:avLst/>
          </a:prstGeom>
          <a:solidFill>
            <a:srgbClr val="FFFFFF"/>
          </a:solidFill>
          <a:ln cap="flat" cmpd="sng" w="25400">
            <a:solidFill>
              <a:srgbClr val="00A89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9" name="Google Shape;149;p21"/>
          <p:cNvSpPr/>
          <p:nvPr/>
        </p:nvSpPr>
        <p:spPr>
          <a:xfrm>
            <a:off x="5303520" y="1828800"/>
            <a:ext cx="3200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8090"/>
              </a:buClr>
              <a:buSzPts val="1600"/>
              <a:buFont typeface="Calibri"/>
              <a:buNone/>
            </a:pPr>
            <a:r>
              <a:rPr b="1" i="0" lang="en-US" sz="1600" u="none" cap="none" strike="noStrike">
                <a:solidFill>
                  <a:srgbClr val="028090"/>
                </a:solidFill>
                <a:latin typeface="Calibri"/>
                <a:ea typeface="Calibri"/>
                <a:cs typeface="Calibri"/>
                <a:sym typeface="Calibri"/>
              </a:rPr>
              <a:t>IP Addressing Scheme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" name="Google Shape;150;p21"/>
          <p:cNvSpPr/>
          <p:nvPr/>
        </p:nvSpPr>
        <p:spPr>
          <a:xfrm>
            <a:off x="5303520" y="2286000"/>
            <a:ext cx="3200400" cy="1920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IPv4 Ranges: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100"/>
              <a:buFont typeface="Calibri"/>
              <a:buChar char="•"/>
            </a:pPr>
            <a:r>
              <a:rPr b="0" i="0" lang="en-US" sz="110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Main: 150.111.64.0/19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100"/>
              <a:buFont typeface="Calibri"/>
              <a:buChar char="•"/>
            </a:pPr>
            <a:r>
              <a:rPr b="0" i="0" lang="en-US" sz="110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Engineering: 150.111.80.0/20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100"/>
              <a:buFont typeface="Calibri"/>
              <a:buChar char="•"/>
            </a:pPr>
            <a:r>
              <a:rPr b="0" i="0" lang="en-US" sz="110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Business: 150.111.96.0/20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"/>
              <a:buFont typeface="Calibri"/>
              <a:buNone/>
            </a:pPr>
            <a:r>
              <a:rPr b="0" i="0" lang="en-US" sz="4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IPv6: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100"/>
              <a:buFont typeface="Calibri"/>
              <a:buChar char="•"/>
            </a:pPr>
            <a:r>
              <a:rPr b="0" i="0" lang="en-US" sz="110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Prefix: 2001:ABCD:E0::/48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100"/>
              <a:buFont typeface="Calibri"/>
              <a:buChar char="•"/>
            </a:pPr>
            <a:r>
              <a:rPr b="0" i="0" lang="en-US" sz="110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/64 subnets for VLANs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100"/>
              <a:buFont typeface="Calibri"/>
              <a:buChar char="•"/>
            </a:pPr>
            <a:r>
              <a:rPr b="0" i="0" lang="en-US" sz="110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/126 for P2P links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"/>
              <a:buFont typeface="Calibri"/>
              <a:buNone/>
            </a:pPr>
            <a:r>
              <a:rPr b="0" i="0" lang="en-US" sz="4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P2P Router Links: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/30 IPv4, /126 IPv6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8FAFC"/>
        </a:solidFill>
      </p:bgPr>
    </p:bg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2"/>
          <p:cNvSpPr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8090"/>
              </a:buClr>
              <a:buSzPts val="3600"/>
              <a:buFont typeface="Calibri"/>
              <a:buNone/>
            </a:pPr>
            <a:r>
              <a:rPr b="1" i="0" lang="en-US" sz="3600" u="none" cap="none" strike="noStrike">
                <a:solidFill>
                  <a:srgbClr val="028090"/>
                </a:solidFill>
                <a:latin typeface="Calibri"/>
                <a:ea typeface="Calibri"/>
                <a:cs typeface="Calibri"/>
                <a:sym typeface="Calibri"/>
              </a:rPr>
              <a:t>Implemented Services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" name="Google Shape;157;p22"/>
          <p:cNvSpPr/>
          <p:nvPr/>
        </p:nvSpPr>
        <p:spPr>
          <a:xfrm>
            <a:off x="457200" y="1097280"/>
            <a:ext cx="2743200" cy="4572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8" name="Google Shape;158;p22"/>
          <p:cNvSpPr/>
          <p:nvPr/>
        </p:nvSpPr>
        <p:spPr>
          <a:xfrm>
            <a:off x="731520" y="1645920"/>
            <a:ext cx="4114800" cy="2743200"/>
          </a:xfrm>
          <a:prstGeom prst="rect">
            <a:avLst/>
          </a:prstGeom>
          <a:solidFill>
            <a:srgbClr val="FFFFFF"/>
          </a:solidFill>
          <a:ln cap="flat" cmpd="sng" w="25400">
            <a:solidFill>
              <a:srgbClr val="02809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9" name="Google Shape;159;p22"/>
          <p:cNvSpPr/>
          <p:nvPr/>
        </p:nvSpPr>
        <p:spPr>
          <a:xfrm>
            <a:off x="731520" y="1645920"/>
            <a:ext cx="4114800" cy="4572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0" name="Google Shape;160;p22"/>
          <p:cNvSpPr/>
          <p:nvPr/>
        </p:nvSpPr>
        <p:spPr>
          <a:xfrm>
            <a:off x="731520" y="1645920"/>
            <a:ext cx="4114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Windows Server 2019 - MAIN-WINSRV01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" name="Google Shape;161;p22"/>
          <p:cNvSpPr/>
          <p:nvPr/>
        </p:nvSpPr>
        <p:spPr>
          <a:xfrm>
            <a:off x="914400" y="2286000"/>
            <a:ext cx="3657600" cy="1920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IP address: 150.111.72.10/26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Domain: campus.local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"/>
              <a:buFont typeface="Calibri"/>
              <a:buNone/>
            </a:pPr>
            <a:r>
              <a:rPr b="0" i="0" lang="en-US" sz="4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Services: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100"/>
              <a:buFont typeface="Calibri"/>
              <a:buChar char="•"/>
            </a:pPr>
            <a:r>
              <a:rPr b="0" i="0" lang="en-US" sz="110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Active Directory Domain Services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100"/>
              <a:buFont typeface="Calibri"/>
              <a:buChar char="•"/>
            </a:pPr>
            <a:r>
              <a:rPr b="0" i="0" lang="en-US" sz="110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DNS Server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100"/>
              <a:buFont typeface="Calibri"/>
              <a:buChar char="•"/>
            </a:pPr>
            <a:r>
              <a:rPr b="0" i="0" lang="en-US" sz="110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DHCP Server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100"/>
              <a:buFont typeface="Calibri"/>
              <a:buChar char="•"/>
            </a:pPr>
            <a:r>
              <a:rPr b="0" i="0" lang="en-US" sz="110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File Services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100"/>
              <a:buFont typeface="Calibri"/>
              <a:buChar char="•"/>
            </a:pPr>
            <a:r>
              <a:rPr b="0" i="0" lang="en-US" sz="110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Print Services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100"/>
              <a:buFont typeface="Calibri"/>
              <a:buChar char="•"/>
            </a:pPr>
            <a:r>
              <a:rPr b="0" i="0" lang="en-US" sz="110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GPO Software Deployment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22"/>
          <p:cNvSpPr/>
          <p:nvPr/>
        </p:nvSpPr>
        <p:spPr>
          <a:xfrm>
            <a:off x="5120640" y="1645920"/>
            <a:ext cx="3566160" cy="2743200"/>
          </a:xfrm>
          <a:prstGeom prst="rect">
            <a:avLst/>
          </a:prstGeom>
          <a:solidFill>
            <a:srgbClr val="FFFFFF"/>
          </a:solidFill>
          <a:ln cap="flat" cmpd="sng" w="25400">
            <a:solidFill>
              <a:srgbClr val="00A89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3" name="Google Shape;163;p22"/>
          <p:cNvSpPr/>
          <p:nvPr/>
        </p:nvSpPr>
        <p:spPr>
          <a:xfrm>
            <a:off x="5120640" y="1645920"/>
            <a:ext cx="3566160" cy="457200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4" name="Google Shape;164;p22"/>
          <p:cNvSpPr/>
          <p:nvPr/>
        </p:nvSpPr>
        <p:spPr>
          <a:xfrm>
            <a:off x="5120640" y="1645920"/>
            <a:ext cx="35661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Debian 13 - ENG-LINSRV01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p22"/>
          <p:cNvSpPr/>
          <p:nvPr/>
        </p:nvSpPr>
        <p:spPr>
          <a:xfrm>
            <a:off x="5303520" y="2286000"/>
            <a:ext cx="3200400" cy="1920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IP address: 150.111.72.20/26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"/>
              <a:buFont typeface="Calibri"/>
              <a:buNone/>
            </a:pPr>
            <a:r>
              <a:rPr b="0" i="0" lang="en-US" sz="4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Services: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100"/>
              <a:buFont typeface="Calibri"/>
              <a:buChar char="•"/>
            </a:pPr>
            <a:r>
              <a:rPr b="0" i="0" lang="en-US" sz="110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Apache2 HTTP/HTTPS Web Server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100"/>
              <a:buFont typeface="Calibri"/>
              <a:buChar char="•"/>
            </a:pPr>
            <a:r>
              <a:rPr b="0" i="0" lang="en-US" sz="110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Automatic backup (rsync + cron)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000"/>
              <a:buFont typeface="Calibri"/>
              <a:buNone/>
            </a:pPr>
            <a:r>
              <a:rPr b="0" i="1" lang="en-US" sz="100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Daily run at 02:00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1" name="Google Shape;171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" y="160925"/>
            <a:ext cx="8839199" cy="470072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8FAFC"/>
        </a:solidFill>
      </p:bgPr>
    </p:bg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4"/>
          <p:cNvSpPr/>
          <p:nvPr/>
        </p:nvSpPr>
        <p:spPr>
          <a:xfrm>
            <a:off x="457200" y="150475"/>
            <a:ext cx="8229600" cy="54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8090"/>
              </a:buClr>
              <a:buSzPts val="3600"/>
              <a:buFont typeface="Calibri"/>
              <a:buNone/>
            </a:pPr>
            <a:r>
              <a:rPr b="1" i="0" lang="en-US" sz="3600" u="none" cap="none" strike="noStrike">
                <a:solidFill>
                  <a:srgbClr val="028090"/>
                </a:solidFill>
                <a:latin typeface="Calibri"/>
                <a:ea typeface="Calibri"/>
                <a:cs typeface="Calibri"/>
                <a:sym typeface="Calibri"/>
              </a:rPr>
              <a:t>Testing and Results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457195" y="748095"/>
            <a:ext cx="41148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8090"/>
              </a:buClr>
              <a:buSzPts val="1600"/>
              <a:buFont typeface="Calibri"/>
              <a:buNone/>
            </a:pPr>
            <a:r>
              <a:rPr b="1" i="0" lang="en-US" sz="2000" u="none" cap="none" strike="noStrike">
                <a:solidFill>
                  <a:srgbClr val="028090"/>
                </a:solidFill>
                <a:latin typeface="Calibri"/>
                <a:ea typeface="Calibri"/>
                <a:cs typeface="Calibri"/>
                <a:sym typeface="Calibri"/>
              </a:rPr>
              <a:t>Executed Tests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457200" y="1162725"/>
            <a:ext cx="3042900" cy="2191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r>
              <a:rPr b="1" i="0" lang="en-US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VLAN configuration</a:t>
            </a:r>
            <a:endParaRPr b="1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r>
              <a:rPr b="1" i="0" lang="en-US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IPv4 and IPv6 DHCPOSPF routingSecurity and ACLWireless connectivity</a:t>
            </a:r>
            <a:br>
              <a:rPr b="1" i="0" lang="en-US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b="1" i="0" lang="en-US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b="1" i="0" lang="en-US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b="1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80" name="Google Shape;180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00100" y="748099"/>
            <a:ext cx="4629469" cy="705763"/>
          </a:xfrm>
          <a:prstGeom prst="rect">
            <a:avLst/>
          </a:prstGeom>
          <a:noFill/>
          <a:ln>
            <a:noFill/>
          </a:ln>
        </p:spPr>
      </p:pic>
      <p:pic>
        <p:nvPicPr>
          <p:cNvPr id="181" name="Google Shape;181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500100" y="1453850"/>
            <a:ext cx="4629476" cy="1465433"/>
          </a:xfrm>
          <a:prstGeom prst="rect">
            <a:avLst/>
          </a:prstGeom>
          <a:noFill/>
          <a:ln>
            <a:noFill/>
          </a:ln>
        </p:spPr>
      </p:pic>
      <p:pic>
        <p:nvPicPr>
          <p:cNvPr id="182" name="Google Shape;182;p2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498463" y="2883125"/>
            <a:ext cx="4632741" cy="7165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83" name="Google Shape;183;p24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3498475" y="3599700"/>
            <a:ext cx="4632725" cy="758226"/>
          </a:xfrm>
          <a:prstGeom prst="rect">
            <a:avLst/>
          </a:prstGeom>
          <a:noFill/>
          <a:ln>
            <a:noFill/>
          </a:ln>
        </p:spPr>
      </p:pic>
      <p:pic>
        <p:nvPicPr>
          <p:cNvPr id="184" name="Google Shape;184;p24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3500100" y="4357924"/>
            <a:ext cx="4753815" cy="758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0" name="Google Shape;190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" y="152400"/>
            <a:ext cx="8612888" cy="48387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/>
          <p:nvPr/>
        </p:nvSpPr>
        <p:spPr>
          <a:xfrm>
            <a:off x="607502" y="136250"/>
            <a:ext cx="7929000" cy="109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8090"/>
              </a:buClr>
              <a:buSzPts val="1600"/>
              <a:buFont typeface="Calibri"/>
              <a:buNone/>
            </a:pPr>
            <a:r>
              <a:rPr b="1" i="0" lang="en-US" sz="2500" u="none" cap="none" strike="noStrike">
                <a:solidFill>
                  <a:srgbClr val="028090"/>
                </a:solidFill>
                <a:latin typeface="Calibri"/>
                <a:ea typeface="Calibri"/>
                <a:cs typeface="Calibri"/>
                <a:sym typeface="Calibri"/>
              </a:rPr>
              <a:t>JIRA/GIT</a:t>
            </a:r>
            <a:endParaRPr b="0" i="0" sz="2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"/>
              <a:buFont typeface="Calibri"/>
              <a:buNone/>
            </a:pPr>
            <a:r>
              <a:rPr b="0" i="0" lang="en-US" sz="4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100"/>
              <a:buFont typeface="Calibri"/>
              <a:buNone/>
            </a:pPr>
            <a:r>
              <a:rPr b="1" i="0" lang="en-US" sz="150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Sprint planning, backlog management,</a:t>
            </a:r>
            <a:endParaRPr b="1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100"/>
              <a:buFont typeface="Calibri"/>
              <a:buNone/>
            </a:pPr>
            <a:r>
              <a:rPr b="1" i="0" lang="en-US" sz="150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pie chart, task statuses, team metrics, version control</a:t>
            </a:r>
            <a:endParaRPr b="1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97" name="Google Shape;197;p26" title="Grafikon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2303175"/>
            <a:ext cx="4593525" cy="2840326"/>
          </a:xfrm>
          <a:prstGeom prst="rect">
            <a:avLst/>
          </a:prstGeom>
          <a:noFill/>
          <a:ln>
            <a:noFill/>
          </a:ln>
        </p:spPr>
      </p:pic>
      <p:pic>
        <p:nvPicPr>
          <p:cNvPr id="198" name="Google Shape;198;p2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0" y="1233647"/>
            <a:ext cx="9144001" cy="1383957"/>
          </a:xfrm>
          <a:prstGeom prst="rect">
            <a:avLst/>
          </a:prstGeom>
          <a:noFill/>
          <a:ln>
            <a:noFill/>
          </a:ln>
        </p:spPr>
      </p:pic>
      <p:pic>
        <p:nvPicPr>
          <p:cNvPr id="199" name="Google Shape;199;p2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088802" y="2617600"/>
            <a:ext cx="3592776" cy="25265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28090"/>
        </a:solidFill>
      </p:bgPr>
    </p:bg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7"/>
          <p:cNvSpPr/>
          <p:nvPr/>
        </p:nvSpPr>
        <p:spPr>
          <a:xfrm>
            <a:off x="457200" y="731520"/>
            <a:ext cx="82296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Calibri"/>
              <a:buNone/>
            </a:pPr>
            <a:r>
              <a:rPr b="1" i="0" lang="en-US" sz="5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Summary</a:t>
            </a:r>
            <a:endParaRPr b="0" i="0" sz="5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27"/>
          <p:cNvSpPr/>
          <p:nvPr/>
        </p:nvSpPr>
        <p:spPr>
          <a:xfrm>
            <a:off x="3657600" y="1371600"/>
            <a:ext cx="1828800" cy="4572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7" name="Google Shape;207;p27"/>
          <p:cNvSpPr/>
          <p:nvPr/>
        </p:nvSpPr>
        <p:spPr>
          <a:xfrm>
            <a:off x="914400" y="1828800"/>
            <a:ext cx="73152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C39A"/>
              </a:buClr>
              <a:buSzPts val="1600"/>
              <a:buFont typeface="Calibri"/>
              <a:buNone/>
            </a:pPr>
            <a:r>
              <a:rPr b="1" i="0" lang="en-US" sz="2300" u="none" cap="none" strike="noStrike">
                <a:solidFill>
                  <a:srgbClr val="02C39A"/>
                </a:solidFill>
                <a:latin typeface="Calibri"/>
                <a:ea typeface="Calibri"/>
                <a:cs typeface="Calibri"/>
                <a:sym typeface="Calibri"/>
              </a:rPr>
              <a:t>Project Results:</a:t>
            </a:r>
            <a:endParaRPr b="0" i="0" sz="2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" name="Google Shape;208;p27"/>
          <p:cNvSpPr/>
          <p:nvPr/>
        </p:nvSpPr>
        <p:spPr>
          <a:xfrm>
            <a:off x="914400" y="2286000"/>
            <a:ext cx="7315200" cy="1645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Calibri"/>
              <a:buChar char="•"/>
            </a:pPr>
            <a:r>
              <a:rPr b="1" i="0" lang="en-US" sz="1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Three-campus network with full-mesh topology</a:t>
            </a:r>
            <a:endParaRPr b="1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Calibri"/>
              <a:buChar char="•"/>
            </a:pPr>
            <a:r>
              <a:rPr b="1" i="0" lang="en-US" sz="1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IPv4/IPv6 dual-stack implementation</a:t>
            </a:r>
            <a:endParaRPr b="1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Calibri"/>
              <a:buChar char="•"/>
            </a:pPr>
            <a:r>
              <a:rPr b="1" i="0" lang="en-US" sz="1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7 services running (AD, DNS, DHCP, File, Print, Web, Backup)</a:t>
            </a:r>
            <a:endParaRPr b="1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Calibri"/>
              <a:buChar char="•"/>
            </a:pPr>
            <a:r>
              <a:rPr b="1" i="0" lang="en-US" sz="1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Multi-layer redundancy (Layer 2 and Layer 3)</a:t>
            </a:r>
            <a:endParaRPr b="1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Calibri"/>
              <a:buChar char="•"/>
            </a:pPr>
            <a:r>
              <a:rPr b="1" i="0" lang="en-US" sz="1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Complex security solutions</a:t>
            </a:r>
            <a:endParaRPr b="1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Calibri"/>
              <a:buChar char="•"/>
            </a:pPr>
            <a:r>
              <a:rPr b="1" i="0" lang="en-US" sz="1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Wireless integration on every campus</a:t>
            </a:r>
            <a:endParaRPr b="1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9" name="Google Shape;209;p27"/>
          <p:cNvSpPr/>
          <p:nvPr/>
        </p:nvSpPr>
        <p:spPr>
          <a:xfrm>
            <a:off x="914400" y="411480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C39A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0" name="Google Shape;210;p27"/>
          <p:cNvSpPr/>
          <p:nvPr/>
        </p:nvSpPr>
        <p:spPr>
          <a:xfrm>
            <a:off x="914400" y="448056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8FAFC"/>
              </a:buClr>
              <a:buSzPts val="1100"/>
              <a:buFont typeface="Calibri"/>
              <a:buNone/>
            </a:pPr>
            <a:r>
              <a:t/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