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g3yrZmFgzLN6M4z00LrEDLCeVp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C32619-D1FE-4A87-B93F-CB6CA1F9AF6E}">
  <a:tblStyle styleId="{A2C32619-D1FE-4A87-B93F-CB6CA1F9AF6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" name="Google Shape;7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Ebben a kampuszban van webszerver illetve a windows szerver, ehez a kampuszhoz tartozik egy tuzfal is a kepen kivul</a:t>
            </a:r>
            <a:endParaRPr/>
          </a:p>
        </p:txBody>
      </p:sp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Itt egy dns szerver van meg a linux szerver, ide is tartozik egy tuzfal</a:t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Itt pedig dns es meg egy webszerver</a:t>
            </a:r>
            <a:endParaRPr/>
          </a:p>
        </p:txBody>
      </p:sp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4265374f2_0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94265374f2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Itt van a html oldal amit linuxon programoztunk be es a windows szerveren keresztul meg lehet nyitni</a:t>
            </a:r>
            <a:endParaRPr/>
          </a:p>
        </p:txBody>
      </p:sp>
      <p:sp>
        <p:nvSpPr>
          <p:cNvPr id="169" name="Google Shape;169;g394265374f2_0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1000"/>
              <a:t>ospf: </a:t>
            </a:r>
            <a:r>
              <a:rPr b="1" lang="en-US" sz="1000">
                <a:latin typeface="Arial"/>
                <a:ea typeface="Arial"/>
                <a:cs typeface="Arial"/>
                <a:sym typeface="Arial"/>
              </a:rPr>
              <a:t>Open Shortest Path First(dinamikus utvonalvalaszto protokol, a legyrosabb uton osztja ki az IP-t) </a:t>
            </a:r>
            <a:r>
              <a:rPr b="1" lang="en-US" sz="1000"/>
              <a:t>több mint 100 dolgot teszteltunk le, ebbol 10 sikertelen</a:t>
            </a:r>
            <a:endParaRPr b="1" sz="1000"/>
          </a:p>
        </p:txBody>
      </p:sp>
      <p:sp>
        <p:nvSpPr>
          <p:cNvPr id="175" name="Google Shape;17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4265374f2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94265374f2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Ezt a tiz sikertelen tesztelest mind sikerult kijavitani es ezt mind jiraban fel is jegyeztuk </a:t>
            </a:r>
            <a:endParaRPr/>
          </a:p>
        </p:txBody>
      </p:sp>
      <p:sp>
        <p:nvSpPr>
          <p:cNvPr id="188" name="Google Shape;188;g394265374f2_0_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p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" name="Google Shape;20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1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2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2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2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2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2.png"/><Relationship Id="rId6" Type="http://schemas.openxmlformats.org/officeDocument/2006/relationships/image" Target="../media/image3.png"/><Relationship Id="rId7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101A">
              <a:alpha val="8196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"/>
          <p:cNvSpPr/>
          <p:nvPr/>
        </p:nvSpPr>
        <p:spPr>
          <a:xfrm>
            <a:off x="0" y="4800000"/>
            <a:ext cx="9144000" cy="3435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"/>
          <p:cNvSpPr/>
          <p:nvPr/>
        </p:nvSpPr>
        <p:spPr>
          <a:xfrm>
            <a:off x="457200" y="200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Tolna V</a:t>
            </a: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rmegyei SZC Ap</a:t>
            </a: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czai Csere J</a:t>
            </a: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nos Technikum  |  Informatikai rendszer- </a:t>
            </a: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é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s alkalmaz</a:t>
            </a: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s-</a:t>
            </a: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üzemeltető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 technikus  |  2026</a:t>
            </a:r>
            <a:endParaRPr/>
          </a:p>
        </p:txBody>
      </p:sp>
      <p:sp>
        <p:nvSpPr>
          <p:cNvPr id="64" name="Google Shape;64;p1"/>
          <p:cNvSpPr/>
          <p:nvPr/>
        </p:nvSpPr>
        <p:spPr>
          <a:xfrm>
            <a:off x="457200" y="950000"/>
            <a:ext cx="82296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b="1" lang="en-US" sz="5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romkampuszos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1" i="0" lang="en-US" sz="52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Egyetemi </a:t>
            </a:r>
            <a:r>
              <a:rPr b="1" lang="en-US" sz="52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Hálózat</a:t>
            </a:r>
            <a:endParaRPr/>
          </a:p>
        </p:txBody>
      </p:sp>
      <p:sp>
        <p:nvSpPr>
          <p:cNvPr id="65" name="Google Shape;65;p1"/>
          <p:cNvSpPr/>
          <p:nvPr/>
        </p:nvSpPr>
        <p:spPr>
          <a:xfrm>
            <a:off x="2857200" y="2730000"/>
            <a:ext cx="3429600" cy="6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"/>
          <p:cNvSpPr/>
          <p:nvPr/>
        </p:nvSpPr>
        <p:spPr>
          <a:xfrm>
            <a:off x="457200" y="2840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Tervez</a:t>
            </a:r>
            <a:r>
              <a:rPr lang="en-US" sz="1800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é</a:t>
            </a:r>
            <a:r>
              <a:rPr b="0" i="0" lang="en-US" sz="1800" u="none" cap="none" strike="noStrike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s, Konfigur</a:t>
            </a:r>
            <a:r>
              <a:rPr lang="en-US" sz="1800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b="0" i="0" lang="en-US" sz="1800" u="none" cap="none" strike="noStrike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ci</a:t>
            </a:r>
            <a:r>
              <a:rPr lang="en-US" sz="1800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ó</a:t>
            </a:r>
            <a:r>
              <a:rPr b="0" i="0" lang="en-US" sz="1800" u="none" cap="none" strike="noStrike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é</a:t>
            </a:r>
            <a:r>
              <a:rPr b="0" i="0" lang="en-US" sz="1800" u="none" cap="none" strike="noStrike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s </a:t>
            </a:r>
            <a:r>
              <a:rPr lang="en-US" sz="1800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Dokumentálás</a:t>
            </a:r>
            <a:r>
              <a:rPr b="0" i="0" lang="en-US" sz="1800" u="none" cap="none" strike="noStrike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  |  Cisco Packet Tracer + VirtualBox</a:t>
            </a:r>
            <a:endParaRPr/>
          </a:p>
        </p:txBody>
      </p:sp>
      <p:sp>
        <p:nvSpPr>
          <p:cNvPr id="67" name="Google Shape;67;p1"/>
          <p:cNvSpPr/>
          <p:nvPr/>
        </p:nvSpPr>
        <p:spPr>
          <a:xfrm>
            <a:off x="457200" y="3450000"/>
            <a:ext cx="8229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Peter's &amp; Johnson's Tech</a:t>
            </a:r>
            <a:endParaRPr/>
          </a:p>
        </p:txBody>
      </p:sp>
      <p:sp>
        <p:nvSpPr>
          <p:cNvPr id="68" name="Google Shape;68;p1"/>
          <p:cNvSpPr/>
          <p:nvPr/>
        </p:nvSpPr>
        <p:spPr>
          <a:xfrm>
            <a:off x="457200" y="3870000"/>
            <a:ext cx="82296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Br</a:t>
            </a:r>
            <a:r>
              <a:rPr lang="en-US" sz="13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ä</a:t>
            </a:r>
            <a:r>
              <a:rPr b="0" i="0" lang="en-US" sz="13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utigam P</a:t>
            </a:r>
            <a:r>
              <a:rPr lang="en-US" sz="13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é</a:t>
            </a:r>
            <a:r>
              <a:rPr b="0" i="0" lang="en-US" sz="13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ter  |  </a:t>
            </a:r>
            <a:r>
              <a:rPr lang="en-US" sz="13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Cséplő</a:t>
            </a:r>
            <a:r>
              <a:rPr b="0" i="0" lang="en-US" sz="13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 J</a:t>
            </a:r>
            <a:r>
              <a:rPr lang="en-US" sz="13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b="0" i="0" lang="en-US" sz="13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nos</a:t>
            </a:r>
            <a:endParaRPr/>
          </a:p>
        </p:txBody>
      </p:sp>
      <p:sp>
        <p:nvSpPr>
          <p:cNvPr id="69" name="Google Shape;69;p1"/>
          <p:cNvSpPr/>
          <p:nvPr/>
        </p:nvSpPr>
        <p:spPr>
          <a:xfrm>
            <a:off x="457200" y="4820000"/>
            <a:ext cx="82296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Vizsgaremek  |  Dombóvár,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Csapattagok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57200" y="1097280"/>
            <a:ext cx="18288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914400" y="1828800"/>
            <a:ext cx="73152" cy="9144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1188720" y="2103120"/>
            <a:ext cx="6858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Bräutigam Péter (PM)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Hálózati tervező | Routing és címzési séma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914400" y="3017520"/>
            <a:ext cx="73152" cy="9144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1188720" y="3291840"/>
            <a:ext cx="6858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Cséplő János Balázs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Konfiguráció és tesztelés | Dokumentáció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Projektmenedzsment: Agile/Scrum módszertan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Projekt Áttekintés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457200" y="1097280"/>
            <a:ext cx="18288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731520" y="1645920"/>
            <a:ext cx="38404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lang="en-US" sz="18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rojekt </a:t>
            </a:r>
            <a:r>
              <a:rPr b="1" lang="en-US" sz="18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élja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Egy három kampuszos egyetemi hálózat megtervezése, implementálása és tesztelése, amely biztosítja a megbízható és skálázható kapcsolatot a kampuszok között redundáns topológiával, biztonságos VLAN szegmentációval és dual-stack (IPv4/IPv6) címzéssel.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5029200" y="1244295"/>
            <a:ext cx="3657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Érintett Kampuszok: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5029200" y="1733445"/>
            <a:ext cx="36576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Main Campus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Fő kampusz - központi adminisztráció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Engineering Campus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Mérnöki kampusz - műszaki laborok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Business Campus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Üzleti kampusz - gazdasági kar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73152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73152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Full-mesh topológia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274320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274320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IPv4/IPv6 dual-stack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475488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475488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VLAN szegmentáció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676656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676656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Redundancia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1"/>
          <p:cNvSpPr/>
          <p:nvPr/>
        </p:nvSpPr>
        <p:spPr>
          <a:xfrm>
            <a:off x="457200" y="729961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lang="en-US" sz="40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Használt szimulációs program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1"/>
          <p:cNvSpPr/>
          <p:nvPr/>
        </p:nvSpPr>
        <p:spPr>
          <a:xfrm>
            <a:off x="457200" y="1370041"/>
            <a:ext cx="2286000" cy="456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1"/>
          <p:cNvSpPr/>
          <p:nvPr/>
        </p:nvSpPr>
        <p:spPr>
          <a:xfrm>
            <a:off x="731520" y="2214822"/>
            <a:ext cx="7955400" cy="10974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1"/>
          <p:cNvSpPr/>
          <p:nvPr/>
        </p:nvSpPr>
        <p:spPr>
          <a:xfrm>
            <a:off x="731520" y="2214822"/>
            <a:ext cx="91500" cy="10974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1"/>
          <p:cNvSpPr/>
          <p:nvPr/>
        </p:nvSpPr>
        <p:spPr>
          <a:xfrm>
            <a:off x="1005840" y="2489142"/>
            <a:ext cx="7498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2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Cisco Packet Tracer Projekt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Verzió: Packet Tracer </a:t>
            </a:r>
            <a:r>
              <a:rPr lang="en-US" sz="11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9.0.0</a:t>
            </a: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| Teljes funkcionális szimuláció minden routing, VLAN, DHCP, wireless és server konfigurációval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1"/>
          <p:cNvSpPr txBox="1"/>
          <p:nvPr/>
        </p:nvSpPr>
        <p:spPr>
          <a:xfrm>
            <a:off x="942425" y="3071950"/>
            <a:ext cx="1503600" cy="11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Main Campus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5303520" y="1095595"/>
            <a:ext cx="38406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5303520" y="1095595"/>
            <a:ext cx="3840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Kampusz jellemz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ő</a:t>
            </a: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1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5486525" y="1683845"/>
            <a:ext cx="3474600" cy="3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1" lang="en-US" sz="1200">
                <a:solidFill>
                  <a:srgbClr val="028090"/>
                </a:solidFill>
              </a:rPr>
              <a:t>é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l </a:t>
            </a:r>
            <a:r>
              <a:rPr b="1" lang="en-US" sz="1200">
                <a:solidFill>
                  <a:srgbClr val="028090"/>
                </a:solidFill>
              </a:rPr>
              <a:t>é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 szerepk</a:t>
            </a:r>
            <a:r>
              <a:rPr b="1" lang="en-US" sz="1200">
                <a:solidFill>
                  <a:srgbClr val="028090"/>
                </a:solidFill>
              </a:rPr>
              <a:t>ö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lang="en-US" sz="1000">
                <a:solidFill>
                  <a:srgbClr val="334155"/>
                </a:solidFill>
              </a:rPr>
              <a:t>Központi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 </a:t>
            </a:r>
            <a:r>
              <a:rPr b="1" lang="en-US" sz="1000">
                <a:solidFill>
                  <a:srgbClr val="334155"/>
                </a:solidFill>
              </a:rPr>
              <a:t>adminisztráció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 </a:t>
            </a:r>
            <a:r>
              <a:rPr b="1" lang="en-US" sz="1000">
                <a:solidFill>
                  <a:srgbClr val="334155"/>
                </a:solidFill>
              </a:rPr>
              <a:t>és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 IT </a:t>
            </a:r>
            <a:r>
              <a:rPr b="1" lang="en-US" sz="1000">
                <a:solidFill>
                  <a:srgbClr val="334155"/>
                </a:solidFill>
              </a:rPr>
              <a:t>infrastruktúra</a:t>
            </a:r>
            <a:endParaRPr b="1" sz="1300">
              <a:solidFill>
                <a:srgbClr val="334155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IP tartom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ny: 150.111.64.0/19</a:t>
            </a:r>
            <a:endParaRPr b="1" sz="1300">
              <a:solidFill>
                <a:srgbClr val="33415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Szerverek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MAIN-WINSRV01 (Win Server 2019): AD, DNS, DHCP, File, Print, GPO</a:t>
            </a:r>
            <a:endParaRPr b="1" sz="1300">
              <a:solidFill>
                <a:srgbClr val="334155"/>
              </a:solidFill>
            </a:endParaRPr>
          </a:p>
          <a:p>
            <a:pPr indent="-27463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Webszerver (HTTP/HTTPS)</a:t>
            </a:r>
            <a:r>
              <a:rPr b="1" i="0" lang="en-US" sz="1100" u="none" cap="none" strike="noStrike">
                <a:solidFill>
                  <a:schemeClr val="dk1"/>
                </a:solidFill>
              </a:rPr>
              <a:t> </a:t>
            </a:r>
            <a:endParaRPr b="1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Biztons</a:t>
            </a:r>
            <a:r>
              <a:rPr b="1" lang="en-US" sz="1200">
                <a:solidFill>
                  <a:srgbClr val="028090"/>
                </a:solidFill>
              </a:rPr>
              <a:t>á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ASA </a:t>
            </a:r>
            <a:r>
              <a:rPr b="1" lang="en-US" sz="1000">
                <a:solidFill>
                  <a:srgbClr val="334155"/>
                </a:solidFill>
              </a:rPr>
              <a:t>Tűzfal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 + NAT/PAT </a:t>
            </a:r>
            <a:r>
              <a:rPr b="1" lang="en-US" sz="1000">
                <a:solidFill>
                  <a:srgbClr val="334155"/>
                </a:solidFill>
              </a:rPr>
              <a:t>forgalomellenőrzés</a:t>
            </a:r>
            <a:endParaRPr b="1" sz="1300">
              <a:solidFill>
                <a:srgbClr val="334155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VLAN szegment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ci</a:t>
            </a:r>
            <a:r>
              <a:rPr b="1" lang="en-US" sz="1000">
                <a:solidFill>
                  <a:srgbClr val="334155"/>
                </a:solidFill>
              </a:rPr>
              <a:t>ó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, ACL-ek, port security, DHCP snooping</a:t>
            </a:r>
            <a:endParaRPr b="1" sz="1300">
              <a:solidFill>
                <a:srgbClr val="33415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Routing es redundancia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OSPF/OSPFv3, full-mesh belso topol</a:t>
            </a:r>
            <a:r>
              <a:rPr b="1" lang="en-US" sz="1000">
                <a:solidFill>
                  <a:srgbClr val="334155"/>
                </a:solidFill>
              </a:rPr>
              <a:t>ó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gia</a:t>
            </a:r>
            <a:endParaRPr b="1" sz="1300">
              <a:solidFill>
                <a:srgbClr val="334155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Statikus inter-campus </a:t>
            </a:r>
            <a:r>
              <a:rPr b="1" lang="en-US" sz="1000">
                <a:solidFill>
                  <a:srgbClr val="334155"/>
                </a:solidFill>
              </a:rPr>
              <a:t>ú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tvonalak, EtherChannel L2 redundancia</a:t>
            </a:r>
            <a:endParaRPr b="1" sz="1300">
              <a:solidFill>
                <a:srgbClr val="334155"/>
              </a:solidFill>
            </a:endParaRPr>
          </a:p>
        </p:txBody>
      </p:sp>
      <p:pic>
        <p:nvPicPr>
          <p:cNvPr id="121" name="Google Shape;12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95602"/>
            <a:ext cx="5303525" cy="40478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"/>
          <p:cNvSpPr/>
          <p:nvPr/>
        </p:nvSpPr>
        <p:spPr>
          <a:xfrm>
            <a:off x="457200" y="462350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4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Engineering Campu</a:t>
            </a: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 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5303395" y="1175533"/>
            <a:ext cx="38406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5303395" y="1175520"/>
            <a:ext cx="3840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Kampusz jellemz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ő</a:t>
            </a: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5486388" y="1632720"/>
            <a:ext cx="34746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1" lang="en-US" sz="1200">
                <a:solidFill>
                  <a:srgbClr val="028090"/>
                </a:solidFill>
              </a:rPr>
              <a:t>é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l </a:t>
            </a:r>
            <a:r>
              <a:rPr b="1" lang="en-US" sz="1200">
                <a:solidFill>
                  <a:srgbClr val="028090"/>
                </a:solidFill>
              </a:rPr>
              <a:t>és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 szerepk</a:t>
            </a:r>
            <a:r>
              <a:rPr b="1" lang="en-US" sz="1200">
                <a:solidFill>
                  <a:srgbClr val="028090"/>
                </a:solidFill>
              </a:rPr>
              <a:t>ö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endParaRPr b="1">
              <a:solidFill>
                <a:srgbClr val="028090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lang="en-US" sz="1000">
                <a:solidFill>
                  <a:srgbClr val="334155"/>
                </a:solidFill>
              </a:rPr>
              <a:t>Mérnöki</a:t>
            </a:r>
            <a:r>
              <a:rPr b="1" i="0" lang="en-US" sz="1000" cap="none" strike="noStrike">
                <a:solidFill>
                  <a:srgbClr val="334155"/>
                </a:solidFill>
              </a:rPr>
              <a:t> laborok, kutat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cap="none" strike="noStrike">
                <a:solidFill>
                  <a:srgbClr val="334155"/>
                </a:solidFill>
              </a:rPr>
              <a:t>si </a:t>
            </a:r>
            <a:r>
              <a:rPr b="1" lang="en-US" sz="1000">
                <a:solidFill>
                  <a:srgbClr val="334155"/>
                </a:solidFill>
              </a:rPr>
              <a:t>és</a:t>
            </a:r>
            <a:r>
              <a:rPr b="1" i="0" lang="en-US" sz="1000" cap="none" strike="noStrike">
                <a:solidFill>
                  <a:srgbClr val="334155"/>
                </a:solidFill>
              </a:rPr>
              <a:t> </a:t>
            </a:r>
            <a:r>
              <a:rPr b="1" lang="en-US" sz="1000">
                <a:solidFill>
                  <a:srgbClr val="334155"/>
                </a:solidFill>
              </a:rPr>
              <a:t>műszaki</a:t>
            </a:r>
            <a:r>
              <a:rPr b="1" i="0" lang="en-US" sz="1000" cap="none" strike="noStrike">
                <a:solidFill>
                  <a:srgbClr val="334155"/>
                </a:solidFill>
              </a:rPr>
              <a:t> </a:t>
            </a:r>
            <a:r>
              <a:rPr b="1" lang="en-US" sz="1000">
                <a:solidFill>
                  <a:srgbClr val="334155"/>
                </a:solidFill>
              </a:rPr>
              <a:t>infrastruktúra</a:t>
            </a:r>
            <a:endParaRPr b="1" sz="1300">
              <a:solidFill>
                <a:srgbClr val="334155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cap="none" strike="noStrike">
                <a:solidFill>
                  <a:srgbClr val="334155"/>
                </a:solidFill>
              </a:rPr>
              <a:t>IP tartomany: 150.111.80.0/20</a:t>
            </a:r>
            <a:endParaRPr b="1" sz="1300">
              <a:solidFill>
                <a:srgbClr val="33415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Szerverek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ENG-LINSRV01 (Debian 13): Apache2 web, rsync backup (naponta 02:00)</a:t>
            </a:r>
            <a:endParaRPr b="1" sz="1300">
              <a:solidFill>
                <a:srgbClr val="334155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DNS szerver a helyi </a:t>
            </a:r>
            <a:r>
              <a:rPr b="1" lang="en-US" sz="1000">
                <a:solidFill>
                  <a:srgbClr val="334155"/>
                </a:solidFill>
              </a:rPr>
              <a:t>névfeloldás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 </a:t>
            </a:r>
            <a:r>
              <a:rPr b="1" lang="en-US" sz="1000">
                <a:solidFill>
                  <a:srgbClr val="334155"/>
                </a:solidFill>
              </a:rPr>
              <a:t>kiszolgálására</a:t>
            </a:r>
            <a:endParaRPr b="1" sz="1300">
              <a:solidFill>
                <a:srgbClr val="33415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Biztons</a:t>
            </a:r>
            <a:r>
              <a:rPr b="1" lang="en-US" sz="1200">
                <a:solidFill>
                  <a:srgbClr val="028090"/>
                </a:solidFill>
              </a:rPr>
              <a:t>á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ASA T</a:t>
            </a:r>
            <a:r>
              <a:rPr b="1" lang="en-US" sz="1000">
                <a:solidFill>
                  <a:srgbClr val="334155"/>
                </a:solidFill>
              </a:rPr>
              <a:t>ű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zfal, WPA2-PSK wireless, VLAN 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szegment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ci</a:t>
            </a:r>
            <a:r>
              <a:rPr b="1" lang="en-US" sz="1000">
                <a:solidFill>
                  <a:srgbClr val="334155"/>
                </a:solidFill>
              </a:rPr>
              <a:t>ó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, ACL-ek</a:t>
            </a:r>
            <a:endParaRPr b="1" sz="1300">
              <a:solidFill>
                <a:srgbClr val="334155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IPSec Site-to-Site VPN (Business Campus fel</a:t>
            </a:r>
            <a:r>
              <a:rPr b="1" lang="en-US" sz="1000">
                <a:solidFill>
                  <a:srgbClr val="334155"/>
                </a:solidFill>
              </a:rPr>
              <a:t>é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)</a:t>
            </a:r>
            <a:endParaRPr b="1" sz="1300">
              <a:solidFill>
                <a:srgbClr val="33415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Routing es redundancia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OSPF/OSPFv3, full-mesh, EtherChannel L2 redundancia</a:t>
            </a:r>
            <a:endParaRPr b="1" sz="1300">
              <a:solidFill>
                <a:srgbClr val="334155"/>
              </a:solidFill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Statikus inter-campus </a:t>
            </a:r>
            <a:r>
              <a:rPr b="1" lang="en-US" sz="1000">
                <a:solidFill>
                  <a:srgbClr val="334155"/>
                </a:solidFill>
              </a:rPr>
              <a:t>útvonalak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, auto-rerouting hib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s link eseten</a:t>
            </a:r>
            <a:endParaRPr b="1" sz="1300">
              <a:solidFill>
                <a:srgbClr val="334155"/>
              </a:solidFill>
            </a:endParaRPr>
          </a:p>
        </p:txBody>
      </p:sp>
      <p:pic>
        <p:nvPicPr>
          <p:cNvPr id="130" name="Google Shape;13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75525"/>
            <a:ext cx="5321624" cy="3967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4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Business Campus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5303583" y="957620"/>
            <a:ext cx="38406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5303570" y="957620"/>
            <a:ext cx="3840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Kampusz jellemz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ő</a:t>
            </a: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b="1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5486575" y="1540745"/>
            <a:ext cx="3474600" cy="3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1" lang="en-US" sz="1200">
                <a:solidFill>
                  <a:srgbClr val="028090"/>
                </a:solidFill>
              </a:rPr>
              <a:t>é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l </a:t>
            </a:r>
            <a:r>
              <a:rPr b="1" lang="en-US" sz="1200">
                <a:solidFill>
                  <a:srgbClr val="028090"/>
                </a:solidFill>
              </a:rPr>
              <a:t>é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 szerepk</a:t>
            </a:r>
            <a:r>
              <a:rPr b="1" lang="en-US" sz="1200">
                <a:solidFill>
                  <a:srgbClr val="028090"/>
                </a:solidFill>
              </a:rPr>
              <a:t>ö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Gazdas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gi kar </a:t>
            </a:r>
            <a:r>
              <a:rPr b="1" lang="en-US" sz="1000">
                <a:solidFill>
                  <a:srgbClr val="334155"/>
                </a:solidFill>
              </a:rPr>
              <a:t>é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s </a:t>
            </a:r>
            <a:r>
              <a:rPr b="1" lang="en-US" sz="1000">
                <a:solidFill>
                  <a:srgbClr val="334155"/>
                </a:solidFill>
              </a:rPr>
              <a:t>ü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zleti adminisztr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ci</a:t>
            </a:r>
            <a:r>
              <a:rPr b="1" lang="en-US" sz="1000">
                <a:solidFill>
                  <a:srgbClr val="334155"/>
                </a:solidFill>
              </a:rPr>
              <a:t>ó</a:t>
            </a:r>
            <a:endParaRPr b="1" sz="1300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IP tartomany: 150.111.96.0/20</a:t>
            </a:r>
            <a:endParaRPr b="1" sz="1300"/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Szerverek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DNS szerver a helyi </a:t>
            </a:r>
            <a:r>
              <a:rPr b="1" lang="en-US" sz="1000">
                <a:solidFill>
                  <a:srgbClr val="334155"/>
                </a:solidFill>
              </a:rPr>
              <a:t>névfeloldás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 </a:t>
            </a:r>
            <a:r>
              <a:rPr b="1" lang="en-US" sz="1000">
                <a:solidFill>
                  <a:srgbClr val="334155"/>
                </a:solidFill>
              </a:rPr>
              <a:t>kiszolgálására</a:t>
            </a:r>
            <a:endParaRPr b="1" sz="1300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Webszerver (HTTP/HTTPS) bels</a:t>
            </a:r>
            <a:r>
              <a:rPr b="1" lang="en-US" sz="1000">
                <a:solidFill>
                  <a:srgbClr val="334155"/>
                </a:solidFill>
              </a:rPr>
              <a:t>ő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 kampusz szolg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ltat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sokhoz</a:t>
            </a:r>
            <a:endParaRPr b="1" sz="1300"/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Biztons</a:t>
            </a:r>
            <a:r>
              <a:rPr b="1" lang="en-US" sz="1200">
                <a:solidFill>
                  <a:srgbClr val="028090"/>
                </a:solidFill>
              </a:rPr>
              <a:t>á</a:t>
            </a: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ASA T</a:t>
            </a:r>
            <a:r>
              <a:rPr b="1" lang="en-US" sz="1000">
                <a:solidFill>
                  <a:srgbClr val="334155"/>
                </a:solidFill>
              </a:rPr>
              <a:t>ű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zfal, VLAN szegment</a:t>
            </a:r>
            <a:r>
              <a:rPr b="1" lang="en-US" sz="1000">
                <a:solidFill>
                  <a:srgbClr val="334155"/>
                </a:solidFill>
              </a:rPr>
              <a:t>á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ci</a:t>
            </a:r>
            <a:r>
              <a:rPr b="1" lang="en-US" sz="1000">
                <a:solidFill>
                  <a:srgbClr val="334155"/>
                </a:solidFill>
              </a:rPr>
              <a:t>ó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, ACL-ek, port security</a:t>
            </a:r>
            <a:endParaRPr b="1" sz="1300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IPSec Site-to-Site VPN (Engineering Campus fel</a:t>
            </a:r>
            <a:r>
              <a:rPr b="1" lang="en-US" sz="1000">
                <a:solidFill>
                  <a:srgbClr val="334155"/>
                </a:solidFill>
              </a:rPr>
              <a:t>é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)</a:t>
            </a:r>
            <a:endParaRPr b="1" sz="1300"/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Routing es redundancia</a:t>
            </a:r>
            <a:endParaRPr b="1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OSPF/OSPFv3, full-mesh, EtherChannel L2 redundancia</a:t>
            </a:r>
            <a:endParaRPr b="1" sz="1300"/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</a:rPr>
              <a:t>Statikus inter-campus </a:t>
            </a:r>
            <a:r>
              <a:rPr b="1" lang="en-US" sz="1000">
                <a:solidFill>
                  <a:srgbClr val="334155"/>
                </a:solidFill>
              </a:rPr>
              <a:t>útvonalak</a:t>
            </a:r>
            <a:r>
              <a:rPr b="1" i="0" lang="en-US" sz="1000" u="none" cap="none" strike="noStrike">
                <a:solidFill>
                  <a:srgbClr val="334155"/>
                </a:solidFill>
              </a:rPr>
              <a:t>, STP Spanning Tree Protocol</a:t>
            </a:r>
            <a:endParaRPr b="1" sz="1300"/>
          </a:p>
        </p:txBody>
      </p:sp>
      <p:pic>
        <p:nvPicPr>
          <p:cNvPr id="139" name="Google Shape;13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76761"/>
            <a:ext cx="5303576" cy="360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IP Címzés és VLAN Szegmentáció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457200" y="1097280"/>
            <a:ext cx="32004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7" name="Google Shape;147;p8"/>
          <p:cNvGraphicFramePr/>
          <p:nvPr/>
        </p:nvGraphicFramePr>
        <p:xfrm>
          <a:off x="731520" y="16459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{A2C32619-D1FE-4A87-B93F-CB6CA1F9AF6E}</a:tableStyleId>
              </a:tblPr>
              <a:tblGrid>
                <a:gridCol w="731525"/>
                <a:gridCol w="1645925"/>
                <a:gridCol w="17373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VLAN</a:t>
                      </a:r>
                      <a:endParaRPr sz="12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Név</a:t>
                      </a:r>
                      <a:endParaRPr sz="12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Subnet</a:t>
                      </a:r>
                      <a:endParaRPr sz="12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809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10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Tanulók</a:t>
                      </a:r>
                      <a:endParaRPr sz="1100" u="none" cap="none" strike="noStrike">
                        <a:solidFill>
                          <a:srgbClr val="334155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/22 (~1000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20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Oktatók/személyzet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/23 (~500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30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Tantermek 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/24 (~250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40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Szerverek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/24 (~250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50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Vezeték nélküli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/26 (~60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60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Nyomtatók</a:t>
                      </a:r>
                      <a:endParaRPr sz="1100" u="none" cap="none" strike="noStrike">
                        <a:solidFill>
                          <a:srgbClr val="334155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/28 (~14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Google Shape;148;p8"/>
          <p:cNvSpPr/>
          <p:nvPr/>
        </p:nvSpPr>
        <p:spPr>
          <a:xfrm>
            <a:off x="5120640" y="1645920"/>
            <a:ext cx="3566160" cy="27432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5303520" y="18288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IP Címzési Séma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5303520" y="2286000"/>
            <a:ext cx="32004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IPv4 Tartományok: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Main: 150.111.64.0/19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Engineering: 150.111.80.0/20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Business: 150.111.96.0/20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IPv6: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Prefix: 2001:ABCD:E0::/48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/64 subnetek VLAN-okhoz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/126 P2P linkekhez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P2P Router Linkek: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/30 IPv4, /126 IPv6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Implementált Szolgáltatások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9"/>
          <p:cNvSpPr/>
          <p:nvPr/>
        </p:nvSpPr>
        <p:spPr>
          <a:xfrm>
            <a:off x="457200" y="1097280"/>
            <a:ext cx="27432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/>
          <p:nvPr/>
        </p:nvSpPr>
        <p:spPr>
          <a:xfrm>
            <a:off x="731520" y="1645920"/>
            <a:ext cx="4114800" cy="27432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9"/>
          <p:cNvSpPr/>
          <p:nvPr/>
        </p:nvSpPr>
        <p:spPr>
          <a:xfrm>
            <a:off x="731520" y="1645920"/>
            <a:ext cx="4114800" cy="4572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9"/>
          <p:cNvSpPr/>
          <p:nvPr/>
        </p:nvSpPr>
        <p:spPr>
          <a:xfrm>
            <a:off x="731520" y="16459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Windows Server 2019 - MAIN-WINSRV01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914400" y="2286000"/>
            <a:ext cx="36576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IP cím: 150.111.72.10/26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Domain: campus.local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Szolgáltatások: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Active Directory Domain Services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DNS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DHCP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File Services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Print Services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GPO Software Deployment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5120640" y="1645920"/>
            <a:ext cx="3566160" cy="27432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5120640" y="1645920"/>
            <a:ext cx="356616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5120640" y="164592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Debian 13 - ENG-LINSRV01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5303520" y="2286000"/>
            <a:ext cx="32004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IP cím: 150.111.72.20/26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Szolgáltatások: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Apache2 HTTP/HTTPS Web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Automatikus backup (rsync + cron)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Naponta 02:00 futás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g394265374f2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0925"/>
            <a:ext cx="8839199" cy="4700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0"/>
          <p:cNvSpPr/>
          <p:nvPr/>
        </p:nvSpPr>
        <p:spPr>
          <a:xfrm>
            <a:off x="457200" y="150475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Tesztelés és Eredmények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457195" y="748095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2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Végrehajtott Tesztek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457200" y="1162725"/>
            <a:ext cx="3042900" cy="21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Vlan konfiguració</a:t>
            </a:r>
            <a:endParaRPr b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IPv4 és IPv6 DHCP</a:t>
            </a:r>
            <a:b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OSPF routing</a:t>
            </a:r>
            <a:b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Biztonság és ACL</a:t>
            </a:r>
            <a:b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Vezeték nélküli kapcsolat</a:t>
            </a:r>
            <a:endParaRPr b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0100" y="748099"/>
            <a:ext cx="4629469" cy="705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00100" y="1453850"/>
            <a:ext cx="4629476" cy="1465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98463" y="2883125"/>
            <a:ext cx="4632741" cy="71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98475" y="3599700"/>
            <a:ext cx="4632725" cy="758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500100" y="4357924"/>
            <a:ext cx="4753815" cy="75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g394265374f2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12888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2"/>
          <p:cNvSpPr/>
          <p:nvPr/>
        </p:nvSpPr>
        <p:spPr>
          <a:xfrm>
            <a:off x="607502" y="136250"/>
            <a:ext cx="79290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25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JIRA/GIT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Sprint tervezés, backlog management,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kördiagram, task státuszok, team metrics, </a:t>
            </a:r>
            <a:r>
              <a:rPr b="1" lang="en-US" sz="15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verziókezelés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12" title="Grafik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303175"/>
            <a:ext cx="4593525" cy="2840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233647"/>
            <a:ext cx="9144001" cy="13839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88802" y="2617600"/>
            <a:ext cx="3592776" cy="252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8090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5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Összefoglalás</a:t>
            </a:r>
            <a:endParaRPr b="0" i="0" sz="5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3"/>
          <p:cNvSpPr/>
          <p:nvPr/>
        </p:nvSpPr>
        <p:spPr>
          <a:xfrm>
            <a:off x="3657600" y="1371600"/>
            <a:ext cx="18288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600"/>
              <a:buFont typeface="Calibri"/>
              <a:buNone/>
            </a:pPr>
            <a:r>
              <a:rPr b="1" i="0" lang="en-US" sz="23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Projekt Eredményei: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3"/>
          <p:cNvSpPr/>
          <p:nvPr/>
        </p:nvSpPr>
        <p:spPr>
          <a:xfrm>
            <a:off x="914400" y="2286000"/>
            <a:ext cx="73152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Három</a:t>
            </a: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kampuszos hálózat full-mesh topológiával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IPv4/IPv6 dual-stack implementáció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 szolgáltatás működik (AD, DNS, DHCP, File, Print, Web, Backup)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Többrétegű redundancia (Layer 2 és Layer 3)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Komplex biztonsági megoldások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Wireless integráció minden kampuszon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/>
          <p:nvPr/>
        </p:nvSpPr>
        <p:spPr>
          <a:xfrm>
            <a:off x="914400" y="4114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3"/>
          <p:cNvSpPr/>
          <p:nvPr/>
        </p:nvSpPr>
        <p:spPr>
          <a:xfrm>
            <a:off x="914400" y="44805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