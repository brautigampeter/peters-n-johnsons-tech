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FBBAF-E0BB-42BA-B8FD-C33CE2B03D54}" v="2" dt="2026-05-04T14:08:12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éter Bräutigam" userId="2bd89ce1a515db68" providerId="LiveId" clId="{595DBEDD-5803-4C87-BC8F-1F04ED0BFCF7}"/>
    <pc:docChg chg="addSld modSld">
      <pc:chgData name="Péter Bräutigam" userId="2bd89ce1a515db68" providerId="LiveId" clId="{595DBEDD-5803-4C87-BC8F-1F04ED0BFCF7}" dt="2026-05-04T14:08:12.020" v="1"/>
      <pc:docMkLst>
        <pc:docMk/>
      </pc:docMkLst>
      <pc:sldChg chg="modSp">
        <pc:chgData name="Péter Bräutigam" userId="2bd89ce1a515db68" providerId="LiveId" clId="{595DBEDD-5803-4C87-BC8F-1F04ED0BFCF7}" dt="2026-05-04T14:06:38.408" v="0" actId="14826"/>
        <pc:sldMkLst>
          <pc:docMk/>
          <pc:sldMk cId="0" sldId="272"/>
        </pc:sldMkLst>
        <pc:picChg chg="mod">
          <ac:chgData name="Péter Bräutigam" userId="2bd89ce1a515db68" providerId="LiveId" clId="{595DBEDD-5803-4C87-BC8F-1F04ED0BFCF7}" dt="2026-05-04T14:06:38.408" v="0" actId="14826"/>
          <ac:picMkLst>
            <pc:docMk/>
            <pc:sldMk cId="0" sldId="272"/>
            <ac:picMk id="4" creationId="{00000000-0000-0000-0000-000000000000}"/>
          </ac:picMkLst>
        </pc:picChg>
      </pc:sldChg>
      <pc:sldChg chg="add">
        <pc:chgData name="Péter Bräutigam" userId="2bd89ce1a515db68" providerId="LiveId" clId="{595DBEDD-5803-4C87-BC8F-1F04ED0BFCF7}" dt="2026-05-04T14:08:12.020" v="1"/>
        <pc:sldMkLst>
          <pc:docMk/>
          <pc:sldMk cId="0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89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topology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Háromkampuszos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Egyetemi Hálózat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200400" y="27432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Tervezés  ·  Konfiguráció  ·  Dokumentálás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4622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Peter's &amp; Johnson's Tech  |  Bräutigam Péter  ·  Cséplő János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9.0.0  +  VirtualBox  |  Dombóvár,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Csapattagok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64008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Bräutigam Péter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Projektmenedzser &amp; Hálózattervező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Hálózati architektúra tervezése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IP-cimzési és routing séma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MAIN-WINSRV01 konfiguráció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projektvezetés, sprint tervezés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64008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98348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Cséplő János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3480" y="15361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Konfiguráció, Tesztelés &amp; Linux 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Konfiguráció tesztelése, 100+ eset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ENG-LINSRV01 (Debian 13) kezelése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Tesztkatalógus és Jira dokumentálás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verziókezelés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Projektmenedzsment: Agile / Scrum  ·  Eszközök: Jira  ·  Git  ·  Discord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Áttekintés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5212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projekt célja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 kampuszos egyetemi hálózat megtervezése, konfigurálása és tesztelése — megbízható, skálázható infrastruktúra VLAN szegmentációval, dual-stack IPv4/IPv6 cimzéssel és beépített redundanciával.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5212080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66928" y="2368296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Campus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70662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Főkampusz – IT és adminisztráció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191256"/>
            <a:ext cx="5212080" cy="7680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566928" y="3255264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Campus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59359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Mérnöki laborok és kutatási infrastruktúra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078224"/>
            <a:ext cx="5212080" cy="7680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66928" y="4142232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Campus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4805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Gazdasági kar és üzleti adminisztráció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96012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5806440" y="960120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961888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Full-mesh topológia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61888" y="13441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kampusz közvetlen összeköttetésben – nincs single point of failure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1947672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5806440" y="1947672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5961888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szegmentáció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61888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VLAN kampuszonként – forgalom és biztonság logikailag elkülönítve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06440" y="2935224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Shape 24"/>
          <p:cNvSpPr/>
          <p:nvPr/>
        </p:nvSpPr>
        <p:spPr>
          <a:xfrm>
            <a:off x="5806440" y="2935224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5961888" y="3026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IPv4/IPv6 dual-stack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61888" y="33192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Párhuzamos cimzés minden szegmensen – jövőálló infrastruktúra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06440" y="3922776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Shape 28"/>
          <p:cNvSpPr/>
          <p:nvPr/>
        </p:nvSpPr>
        <p:spPr>
          <a:xfrm>
            <a:off x="5806440" y="3922776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5961888" y="4014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Beépített redundancia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61888" y="4306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EtherChannel (L2) + OSPF auto-rerouting (L3) – automatikus átvétel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Hálózati Topológia – Full-mesh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/mnt/project/topolog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47548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3"/>
          <p:cNvSpPr/>
          <p:nvPr/>
        </p:nvSpPr>
        <p:spPr>
          <a:xfrm>
            <a:off x="5394960" y="96012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5559552" y="1051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Full-mesh architektúra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59552" y="138074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kampusz közvetlen összeköttetésben egymással (3 P2P link)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egy kiesik → forgalom automatikusan a másik úton megy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394960" y="219456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5394960" y="219456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8"/>
          <p:cNvSpPr/>
          <p:nvPr/>
        </p:nvSpPr>
        <p:spPr>
          <a:xfrm>
            <a:off x="5559552" y="2286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Réteges kampusz felépítés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59552" y="261518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switch → Distribution → Access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réteg más feladatot lát el: routing, összekötés, végpontok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94960" y="342900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Shape 11"/>
          <p:cNvSpPr/>
          <p:nvPr/>
        </p:nvSpPr>
        <p:spPr>
          <a:xfrm>
            <a:off x="5394960" y="342900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2"/>
          <p:cNvSpPr/>
          <p:nvPr/>
        </p:nvSpPr>
        <p:spPr>
          <a:xfrm>
            <a:off x="5559552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Eszközök kampuszonként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59552" y="384962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ISR Router · 1× ASA Tűzfal · 1× L3 Core Switch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Distribution Switch · Access switch-ek · Access Point-ok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Szimulációs és Szerver Környezet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5074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74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9.0.0</a:t>
            </a:r>
            <a:endParaRPr lang="en-US" sz="1600" dirty="0"/>
          </a:p>
        </p:txBody>
      </p:sp>
      <p:pic>
        <p:nvPicPr>
          <p:cNvPr id="7" name="Image 0" descr="/mnt/project/topolog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08760"/>
            <a:ext cx="4846320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14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funkcionális szimuláció — routing, VLAN, DHCP, wireless,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biztonsági konfiguráció mind valóban fut és tesztelhető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960120"/>
            <a:ext cx="3063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5669280" y="960120"/>
            <a:ext cx="30632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8"/>
          <p:cNvSpPr/>
          <p:nvPr/>
        </p:nvSpPr>
        <p:spPr>
          <a:xfrm>
            <a:off x="5779008" y="10058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Szerverek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0" y="1536192"/>
            <a:ext cx="30632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0"/>
          <p:cNvSpPr/>
          <p:nvPr/>
        </p:nvSpPr>
        <p:spPr>
          <a:xfrm>
            <a:off x="5779008" y="16276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MAIN-WINSRV01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779008" y="194767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150.111.72.10/26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campus.local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779008" y="2606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+ DNS + DHCP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Print Services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Software Deployment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3456432"/>
            <a:ext cx="30632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4"/>
          <p:cNvSpPr/>
          <p:nvPr/>
        </p:nvSpPr>
        <p:spPr>
          <a:xfrm>
            <a:off x="5779008" y="35478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ENG-LINSRV01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779008" y="38679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13 Linux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150.111.72.20/26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779008" y="42793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HTTP/HTTPS Webszerver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 backup – rsync + cron (02:00)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Campus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/home/claude/campus_imgs/slide5_img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47548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3"/>
          <p:cNvSpPr/>
          <p:nvPr/>
        </p:nvSpPr>
        <p:spPr>
          <a:xfrm>
            <a:off x="5394960" y="960120"/>
            <a:ext cx="33375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5532120" y="10058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Kampusz jellemzői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32120" y="1389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 és szerepkör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32120" y="1664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Központi adminisztráció és IT infrastruktúra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tartomány: 150.111.64.0/19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32120" y="2212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Szerverek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2120" y="24871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MAIN-WINSRV01 (Win Server 2019)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AD, DNS, DHCP, File, Print, GPO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Webszerver (HTTP/HTTPS)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32120" y="31638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32120" y="34381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Tűzfal + NAT/PAT – belső IP-k elrejtése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ACL, port security, DHCP snooping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53212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és redundancia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3212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OSPF/OSPFv3 · Full-mesh · EtherChannel L2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Campus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/home/claude/campus_imgs/slide6_img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47548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3"/>
          <p:cNvSpPr/>
          <p:nvPr/>
        </p:nvSpPr>
        <p:spPr>
          <a:xfrm>
            <a:off x="5394960" y="960120"/>
            <a:ext cx="33375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5532120" y="10058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Kampusz jellemzői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32120" y="1389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 és szerepkör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32120" y="1664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Mérnöki laborok, kutatási infrastruktúra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tartomány: 150.111.80.0/20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32120" y="2212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Szerverek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2120" y="24871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ENG-LINSRV01 (Debian 13)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Apache2 webszerver + rsync backup (02:00)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– helyi névfeloldás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32120" y="31638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32120" y="34381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Tűzfal · WPA2-PSK wireless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ACL · IPSec VPN → Business Campus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53212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és redundancia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3212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OSPF/OSPFv3 · Full-mesh · Auto-rerouting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Campus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/home/claude/campus_imgs/slide7_img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47548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3"/>
          <p:cNvSpPr/>
          <p:nvPr/>
        </p:nvSpPr>
        <p:spPr>
          <a:xfrm>
            <a:off x="5394960" y="960120"/>
            <a:ext cx="33375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5532120" y="10058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Kampusz jellemzői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32120" y="1389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 és szerepkör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32120" y="1664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Gazdasági kar és üzleti adminisztráció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tartomány: 150.111.96.0/20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32120" y="2212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Szerverek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2120" y="24871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Webszerver (HTTP/HTTPS) – belső kampusz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– helyi névfeloldás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32120" y="3035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32120" y="33101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Tűzfal · VLAN ACL · Port security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VPN → Engineering Campus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532120" y="38039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és redundancia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32120" y="40782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OSPF/OSPFv3 · Full-mesh · STP (loop-védelem)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Szegmentáció – Logikai elkülönítés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fizikai hálózat – több logikailag szeparált szegmens. A tanulók nem látják az adminok forgalmát, a nyomtatók nem érik el a szervereket, a guest wifi teljesen el van zárva.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5349240" cy="276148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Név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Megjegyzés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Tanulók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/22 (~1000 host)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Legnagyobb szegmens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Oktatók/Staff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/23 (~500 host)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Elkülönített adminisztráció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Tantermek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/24 (~250 host)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AV és gépek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Szerverek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/24 (~250 host)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Csak szerverforgalom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Vendég WiFi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/26 (~60 host)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Internet-only, belső tiltva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Nyomtatók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/28 (~14 host)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Minimális szegmens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82880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6"/>
          <p:cNvSpPr/>
          <p:nvPr/>
        </p:nvSpPr>
        <p:spPr>
          <a:xfrm>
            <a:off x="6080760" y="1901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Inter-VLAN Routing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6080760" y="22128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VLAN-ok között forgalom csak routeren/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switch-en keresztül mehet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Core switch SVIs kezelik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338328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6080760" y="3456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cimzés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80760" y="37673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Prefix: 2001:ABCD:E0::/48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/64 – minden VLAN-hoz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/126 – router-router P2P linkek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Cimzési Séma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19202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Campus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150.111.64.0/19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987552"/>
            <a:ext cx="192024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2606040" y="10241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Campus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298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150.111.80.0/20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987552"/>
            <a:ext cx="192024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709160" y="10241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Campus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298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150.111.96.0/20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987552"/>
            <a:ext cx="192024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6812280" y="10241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subnet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1298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150.111.72.0/26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1847088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411480" y="1847088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594360" y="1911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Router Linkek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51760" y="19385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Kampuszok között /30 IPv4 (serial) és /126 IPv6 prefix-ek — csak 2 host/szegmens, minimális pazarlás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615184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411480" y="2615184"/>
            <a:ext cx="64008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94360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scope-ok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51760" y="27066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VLAN saját DHCP scope-t kap a MAIN-WINSRV01-ről. ip helper-address irányítja a kéréseket routeren át.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383280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411480" y="338328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59436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IP-k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5176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MAIN-WINSRV01: 150.111.72.10  |  ENG-LINSRV01: 150.111.72.20  —  fix IP, DHCP reservation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151376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64008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594360" y="4215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prefix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651760" y="42428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2001:ABCD:E0::/48 — felosztva kampuszonként és VLAN-onként /64 blokkokra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Site-to-Site VPN – Titkosított alagút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Titkosított alagút az Engineering és Business Campus között — amit ezen belül küldenek, kívülről olvashatatlan. Olyan mint egy zárt futárszolgálat a két épület között.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4708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11480" y="1847088"/>
            <a:ext cx="64008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1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Alagút felépítés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957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fél egymásnak igazolja kilétét (PSK)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Diffie-Hellman: kulcscsere biztonságosan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ISAKMP SA létrejön: AES-256 + SHA-256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84708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663440" y="1847088"/>
            <a:ext cx="64008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846320" y="1938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2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Forgalom titkosítás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957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SA a Phase 1 alapján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tunnel mode: teljes IP csomag titkosítva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PFS: minden munkamenetben új kulcs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31012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411480" y="3310128"/>
            <a:ext cx="64008" cy="1325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van titkosítva?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858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150.111.80.0/20 ↔ 150.111.96.0/20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ez a forgalom megy az alagúton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Többi forgalom normálisan halad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31012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4663440" y="3310128"/>
            <a:ext cx="64008" cy="1325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846320" y="34015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Ellenőrzés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858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crypto isakmp sa → alagút állapot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crypto ipsec sa → titkosítási számláló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debug crypto isakmp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Tűzfal, NAT/PAT &amp; ACL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kampuszon saját ASA tűzfal — belső IP-ket elrejti a külvilágtól (NAT/PAT), és csak az engedélyezett forgalmat engedi át (ACL). Alapelv: mindent tilt, kivéve amit explicit engedélyeztünk.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6974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/ PAT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NAT: belső IP → nyilvános IP (1:1)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PAT: több belső gép → egy nyilvános IP, port alapján különböztetett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Így a 150.111.x.x belső tartomány kívülről nem látható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elérés: static NAT a szerverekhez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974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338328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szabályok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2267712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Sorrend számít: első illeszkedő szabály érvényes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ACL: forrás IP, cél IP, protokoll, port alapján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deny all a lista végén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Pl.: permit tcp VLAN10 any eq 80 → HTTP engedélyezve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26974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621792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Inspection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7920" y="2267712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Visszairányú forgalom automatikusan engedélyezve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a létrehozott kapcsolatokra válasz mehet be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Külső kezdeményezett kapcsolat: blokkolva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snooping: hamis DHCP szerver ellen védelem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– EtherChannel &amp; STP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393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EtherChannel – több kábel, egy logikai link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egyik fizikai port kiesik, a többi átveszi — a forgalom egyáltalán nem áll 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fizikai link összevonva egyetlen logikai linkké (LACP, 802.3ad)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Sávszélesség: linkek kapacitása összeadódik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balancing: forgalom elosztva a fizikai portok között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Mi: Distribution → Core switch uplinkokon alkalmazzuk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64008" cy="3931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892040" y="1051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– loop-védelem Ethernet hálózatban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5361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Fizikai redundáns kábel loop-ot okozna (végtelen broadcast) — az STP ezt akadályozza meg.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205740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802.1D / RSTP (802.1w): gyors konvergencia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Bridge: legkisebb Bridge ID → gyökér a fastruktúrában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Blokkolt portok: redundáns linkek egy irányban tiltva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Root Bridge kiesik: STP újraszámol, másik veszi át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RSTP: ms-ok alatt konvergál (klasszikus STP: 30-50 mp)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MAIN-WINSRV01 – Windows Server 2019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Központi felhasználókezelés: egyetlen helyen adminisztrálunk minden felhasználót, gépet és jogosultságot. GPO-val szoftvert telepítünk és biztonsági beállításokat érvényesítünk automatikusan.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47088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11480" y="1847088"/>
            <a:ext cx="6400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500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campus.local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(389/636) + Kerberos hitelesítés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struktúra: Admin / Faculty / Students / Computers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847088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663440" y="1847088"/>
            <a:ext cx="6400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846320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integráció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500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AD-integrált DNS zóna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DNS: gépek önmagukat regisztrálják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campus.local névfeloldás belső hálózaton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264408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411480" y="3264408"/>
            <a:ext cx="6400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94360" y="3355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scope-ok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7673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Scope-ok VLAN-onként konfigurálva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reservation: szervereknek fix IP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helper-address: kérések átirányítása routeren át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264408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4663440" y="3264408"/>
            <a:ext cx="6400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846320" y="3355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– szoftver &amp; policy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7673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deployment: MSI silent telepítés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 policy, lockout threshold érvényesítés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Automatikusan alkalmazódik tartományba lépéskor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ENG-LINSRV01 – Debian 13 Linux Szerver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alapadatok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97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242316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Debian 13 (Bookworm) – VirtualBox VM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150.111.72.20/26 (CampusNet NAT)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Hostname: ENG-LINSRV01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Hozzáférés: admin + root (su -)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3383280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HTTP szerver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97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3383280" y="1572768"/>
            <a:ext cx="242316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install apache2 → aktív a 80-as porton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Gyökér: /var/www/html/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Egyedi HTML oldal: szerver neve, IP, szolgáltatások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apache2 → futó állapot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Teszt: curl localhost → HTTP 200 OK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6217920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+ cron backup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2697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6217920" y="1572768"/>
            <a:ext cx="242316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Forrás: /var/www/html/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Cél: /backup/www_backup/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kifejezés: 0 2 * * * (minden nap 02:00)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-av: csak a megváltozott fájlokat másolja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Log: /var/log/syslog – futás naplózódik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Implementált Szolgáltatások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MAIN-WINSRV01 – Windows Server 2019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150.111.72.10/26  ·  Domain: campus.local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841248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Domain 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841248" y="22585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 – campus.local zóna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841248" y="27340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Server – scope-ok VLAN-onként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841248" y="32095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Services – megosztott mappák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841248" y="36850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Services – hálózati nyomtatók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33672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841248" y="4160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Software Deployment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023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4846320" y="1051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ENG-LINSRV01 – Debian 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150.111.72.20/26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856232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5138928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HTTP/HTTPS Webszerver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331720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5138928" y="22585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 backup – rsync + cron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807208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5138928" y="27340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Futás: naponta 02:00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736592"/>
            <a:ext cx="8321040" cy="228600"/>
          </a:xfrm>
          <a:prstGeom prst="rect">
            <a:avLst/>
          </a:prstGeom>
          <a:solidFill>
            <a:srgbClr val="EBF8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Összesen: 7 aktív szolgáltatás · mindkét szerver VirtualBox CampusNet NAT hálózaton kommunikál egymással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Szerver – Élő Demonstráció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0295" y="804672"/>
            <a:ext cx="7823409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Bal: ENG-LINSRV01 weboldal – Apache2 fut, "ALL SYSTEMS OPERATIONAL"  ·  Jobb: terminál – fájlok, curl teszt, backup folyamat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Hálózat &amp; DHCP Konfiguráció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6400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WPA2-PSK titkosítás minden kampuszon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SSID kampusz-specifikus (pl. MainCampus-WiFi)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 (Guest): internet-only, belső hálózat tiltva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/ 5 GHz dual-band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4663440" y="987552"/>
            <a:ext cx="64008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Relay – ip helper-address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DHCP broadcast csak saját szegmensben terjed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Különböző VLAN-okból nem érné el a szervert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Megoldás: ip helper-address az SVI interfészeken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kérések továbbítva a MAIN-WINSRV01-hez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907792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6400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scope-ok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 Students:  150.111.64.0/22 (~1000 host)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 Faculty:   150.111.68.0/23 (~500 host)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 Wireless:  /26 (~60 host)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Reservation: szervereknek fix IP MAC alapján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907792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4663440" y="2907792"/>
            <a:ext cx="64008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Snooping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Megakadályozza a hamis DHCP szervert a hálózaton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port: csak uplink adhat ki IP-t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Untrusted: access portok – DHCP offer tiltva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table: port↔MAC↔IP hozzárendelés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 és Eredmények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92024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végrehajtva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2024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2606040" y="1005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6642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terület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lefedve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2024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709160" y="1005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09160" y="16642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javítva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960120"/>
            <a:ext cx="192024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6812280" y="1005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12280" y="16642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végeredmény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578608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411480" y="2578608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76072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konfiguráció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3172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Szegmentáció és trunk portok ellenőrzése – show vlan brief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17720" y="2578608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4617720" y="2578608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4782312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&amp; IPv6 DHCP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kiosztás minden VLAN-ban – ping + ipconfig teszt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33832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411480" y="338328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576072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routing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331720" y="3456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adjacency, route table konzisztencia – show ip route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17720" y="33832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Shape 31"/>
          <p:cNvSpPr/>
          <p:nvPr/>
        </p:nvSpPr>
        <p:spPr>
          <a:xfrm>
            <a:off x="4617720" y="338328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4782312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 &amp; ACL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3456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Tiltott forgalom valóban blokkolva-e – show ip access-lists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1480" y="4187952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7" name="Shape 35"/>
          <p:cNvSpPr/>
          <p:nvPr/>
        </p:nvSpPr>
        <p:spPr>
          <a:xfrm>
            <a:off x="411480" y="4187952"/>
            <a:ext cx="64008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594360" y="4261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kapcsolat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834640" y="42793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SSID láthatóság, WPA2 hitelesítés, IP kiosztás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Tesztelési Módszertan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64008" cy="3886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Tesztkatalógus – Excel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35204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703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sor: Teszt ID, Leírás, Várt, Tényleges, Státusz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Státuszok: PASS / FAIL / SKIP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Kategóriák: Connectivity · VLAN · DHCP · OSPF · Security · Wireless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Verifikáció: Packet Tracer szimulációval + IOS show parancsokkal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minden FAIL jegy automatikusan nyitva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64008" cy="3886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892040" y="10789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Tipikus hibák és javítások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1463040"/>
            <a:ext cx="35204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703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1: OSPF neighbor nem jött fel → timer mismatch javítva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2: DHCP scope kiosztási hiba → ip helper-address hiányzott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3: VLAN trunk nem engedte át → allowed VLAN list frissítve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hiba dokumentálva Jirában, re-teszt elvégezve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Végeredmény: mind a 10 hiba PASS státuszra hozva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– Hibakövetés és Projektmenedzsment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/home/claude/campus_imgs/slide12_img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822960"/>
            <a:ext cx="768096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Februárii sprint · 10 hibajavítás · 100% DONE · 2d 2h 13m naplózott munkaidő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607502" y="136250"/>
            <a:ext cx="79290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lang="en-US" sz="25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JIRA/GIT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lang="en-US" sz="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Sprint tervezés, backlog management,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kördiagram, task státuszok, team metrics, </a:t>
            </a:r>
            <a:r>
              <a:rPr lang="en-US" sz="15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verziókezelés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2" title="Grafik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03175"/>
            <a:ext cx="4593525" cy="284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33647"/>
            <a:ext cx="9144001" cy="1383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8802" y="2617600"/>
            <a:ext cx="3592776" cy="25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Csapatmunka &amp; Eszközök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tervezés, backlog management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Kördiagram – task státuszok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metrikák, hibajegy-kezelés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3383280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664208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Verziókezelés – minden változás nyomon követve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struktúra, commit history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Dokumentáció és konfig fájlok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6217920" y="1078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1664208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 kommunikáció, gyors egyeztetés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Fájlmegosztás és döntési log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Csapaton belüli koordináció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Eredményei: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Háromkampuszos hálózat full-mesh topológiával – nincs single point of failure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0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IPv4/IPv6 dual-stack implementáció – 150.111.x.x + 2001:ABCD:E0::/48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szolgáltatás működik: AD · DNS · DHCP · File · Print · Web · Backup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0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Többrétegű redundancia: EtherChannel (L2) + OSPF auto-rerouting (L3)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 biztonsági megoldások: ASA · NAT/PAT · ACL · IPSec VPN · WPA2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0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integráció minden kampuszon – WPA2-PSK, VLAN szegmentált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57200" y="44988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Peter's &amp; Johnson's Tech  ·  Bräutigam Péter  ·  Cséplő János  |  Dombóvár,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 a figyelmet — állunk rendelkezésre a kérdésekre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2068</Words>
  <Application>Microsoft Office PowerPoint</Application>
  <PresentationFormat>Diavetítés a képernyőre (16:9 oldalarány)</PresentationFormat>
  <Paragraphs>409</Paragraphs>
  <Slides>24</Slides>
  <Notes>24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Péter Bräutigam</cp:lastModifiedBy>
  <cp:revision>1</cp:revision>
  <dcterms:created xsi:type="dcterms:W3CDTF">2026-05-04T13:42:16Z</dcterms:created>
  <dcterms:modified xsi:type="dcterms:W3CDTF">2026-05-04T14:08:16Z</dcterms:modified>
</cp:coreProperties>
</file>